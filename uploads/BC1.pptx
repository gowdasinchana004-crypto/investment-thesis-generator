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5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40" y="3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68279-6D4E-4ECA-8563-B8F6BC5CEB6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6C009-9B46-4B8B-A255-9AA33304CB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4778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8E7F0-6214-4ED4-ADFE-A51BD13D0D6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40207-42FF-43F7-BDEC-D027771A2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0418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600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5238477" y="2688337"/>
            <a:ext cx="1485899" cy="4571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E41E53-89D8-44BD-B26D-BDA64BD279EE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3427964" y="4841749"/>
            <a:ext cx="5789693" cy="45720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99982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CF0A-BAC1-4AE3-A30D-E639B29A86D9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00695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4016468"/>
            <a:ext cx="6526538" cy="3425736"/>
          </a:xfrm>
        </p:spPr>
        <p:txBody>
          <a:bodyPr anchor="ctr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3339" y="4016466"/>
            <a:ext cx="5636318" cy="3425736"/>
          </a:xfrm>
        </p:spPr>
        <p:txBody>
          <a:bodyPr anchor="ctr"/>
          <a:lstStyle>
            <a:lvl1pPr marL="0" indent="0" algn="l">
              <a:buNone/>
              <a:defRPr sz="3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68671-96AC-4D0B-B10D-9BA501F1318D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29324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31" y="3905251"/>
            <a:ext cx="7237737" cy="512445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3069" y="3905250"/>
            <a:ext cx="7237739" cy="51244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088E-CFBF-4D51-B118-A70D67D8FFCB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89189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7237736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2431" y="4769644"/>
            <a:ext cx="7237737" cy="426005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3069" y="3905250"/>
            <a:ext cx="723773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3069" y="4769644"/>
            <a:ext cx="7237739" cy="4260059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4BA9-6C0C-4A07-8B62-79830A13C2D0}" type="datetime1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20739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142120" cy="106044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D34C-C166-4682-B3A5-907EE1A56AA8}" type="datetime1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55156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0AD7-779D-45AE-A6AB-D44A9BFED21D}" type="datetime1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9697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1943100"/>
            <a:ext cx="4189737" cy="24003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719" y="2171700"/>
            <a:ext cx="7785099" cy="6858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4693921"/>
            <a:ext cx="4189737" cy="4343399"/>
          </a:xfrm>
        </p:spPr>
        <p:txBody>
          <a:bodyPr/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1B0B-130B-41B1-9E7D-5E6AC5DADF0F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4503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2540000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484079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5486400"/>
            <a:ext cx="5788818" cy="20574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86125-F2D8-421A-9768-A4B31BF6A42E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22994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7454891"/>
            <a:ext cx="13238489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2" y="1028700"/>
            <a:ext cx="13238489" cy="5143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1" y="8304998"/>
            <a:ext cx="13238487" cy="740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9AA2-6E31-4EB6-BA59-0090DE580998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14400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197" y="1595126"/>
            <a:ext cx="13247724" cy="2059479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314950"/>
            <a:ext cx="13238489" cy="371475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B3F11-77E3-487C-9D01-A6D3AEF4783B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73554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322349" y="911004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4826688" y="3920681"/>
            <a:ext cx="979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2817" y="1473201"/>
            <a:ext cx="12680859" cy="4044948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918918" y="5518149"/>
            <a:ext cx="11596829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7543799"/>
            <a:ext cx="13867346" cy="1496786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A073-4DDB-4EA1-ADAA-055D47DE6A2C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49644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3556001"/>
            <a:ext cx="13238490" cy="27337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537451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55CB-11FB-48FF-AA34-17B59442629C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482893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3905253"/>
            <a:ext cx="471281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732430" y="4769647"/>
            <a:ext cx="4712819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9082" y="3905250"/>
            <a:ext cx="4720514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69082" y="4769645"/>
            <a:ext cx="472051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832203" y="3905252"/>
            <a:ext cx="471859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832494" y="4769643"/>
            <a:ext cx="471830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605956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658602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165E-D80C-4B7C-A58F-CB3FE135D6DB}" type="datetime1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522814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6799266"/>
            <a:ext cx="457565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001830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32431" y="7663659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3298" y="6799267"/>
            <a:ext cx="4575657" cy="864395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122694" y="3905250"/>
            <a:ext cx="4036865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855258" y="7663658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74163" y="6799268"/>
            <a:ext cx="4576643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44547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74163" y="7663656"/>
            <a:ext cx="4576644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608747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1696703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FF83-E59C-4A2E-B70F-2707ADB499C8}" type="datetime1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41667" y="9587758"/>
            <a:ext cx="5466423" cy="457202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946444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3905250"/>
            <a:ext cx="13238489" cy="512445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043159" y="9587758"/>
            <a:ext cx="1485899" cy="457199"/>
          </a:xfrm>
        </p:spPr>
        <p:txBody>
          <a:bodyPr/>
          <a:lstStyle/>
          <a:p>
            <a:fld id="{0E62DE23-582B-40AE-924D-4CBDEB4A8967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725978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77853" y="1917701"/>
            <a:ext cx="2114948" cy="712288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1917701"/>
            <a:ext cx="9384038" cy="712288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8203" cy="457199"/>
          </a:xfrm>
        </p:spPr>
        <p:txBody>
          <a:bodyPr/>
          <a:lstStyle/>
          <a:p>
            <a:fld id="{9E15CE87-2963-4F60-8F5B-D436995752D7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66475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1" i="0">
                <a:solidFill>
                  <a:schemeClr val="accent1"/>
                </a:solidFill>
              </a:defRPr>
            </a:lvl1pPr>
          </a:lstStyle>
          <a:p>
            <a:fld id="{ECE02BF7-BB0A-401E-BDE6-57FD9CA4CA87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5608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 ftr="0"/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" y="647700"/>
            <a:ext cx="18288635" cy="10274300"/>
            <a:chOff x="0" y="0"/>
            <a:chExt cx="18288635" cy="10274300"/>
          </a:xfrm>
        </p:grpSpPr>
        <p:sp>
          <p:nvSpPr>
            <p:cNvPr id="3" name="object 3"/>
            <p:cNvSpPr/>
            <p:nvPr/>
          </p:nvSpPr>
          <p:spPr>
            <a:xfrm>
              <a:off x="14890070" y="8840539"/>
              <a:ext cx="3397885" cy="417830"/>
            </a:xfrm>
            <a:custGeom>
              <a:avLst/>
              <a:gdLst/>
              <a:ahLst/>
              <a:cxnLst/>
              <a:rect l="l" t="t" r="r" b="b"/>
              <a:pathLst>
                <a:path w="3397884" h="417829">
                  <a:moveTo>
                    <a:pt x="3397563" y="417760"/>
                  </a:moveTo>
                  <a:lnTo>
                    <a:pt x="0" y="417760"/>
                  </a:lnTo>
                  <a:lnTo>
                    <a:pt x="0" y="0"/>
                  </a:lnTo>
                  <a:lnTo>
                    <a:pt x="3397563" y="0"/>
                  </a:lnTo>
                  <a:lnTo>
                    <a:pt x="3397563" y="417760"/>
                  </a:lnTo>
                  <a:close/>
                </a:path>
              </a:pathLst>
            </a:custGeom>
            <a:solidFill>
              <a:srgbClr val="043A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97510" y="0"/>
              <a:ext cx="2486024" cy="24860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971"/>
              <a:ext cx="2295524" cy="25336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84120" y="803856"/>
            <a:ext cx="131503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3595" algn="l"/>
                <a:tab pos="6951345" algn="l"/>
                <a:tab pos="8101330" algn="l"/>
              </a:tabLst>
            </a:pPr>
            <a:r>
              <a:rPr sz="5400" spc="85" dirty="0"/>
              <a:t>MALNAD</a:t>
            </a:r>
            <a:r>
              <a:rPr sz="5400" dirty="0"/>
              <a:t>	</a:t>
            </a:r>
            <a:r>
              <a:rPr sz="5400" spc="-10" dirty="0"/>
              <a:t>COLLEGE</a:t>
            </a:r>
            <a:r>
              <a:rPr sz="5400" dirty="0"/>
              <a:t>	</a:t>
            </a:r>
            <a:r>
              <a:rPr sz="5400" spc="45" dirty="0"/>
              <a:t>OF</a:t>
            </a:r>
            <a:r>
              <a:rPr sz="5400" dirty="0"/>
              <a:t>	</a:t>
            </a:r>
            <a:r>
              <a:rPr sz="5400" spc="-10" dirty="0"/>
              <a:t>ENGINEERING</a:t>
            </a:r>
            <a:endParaRPr sz="5400" dirty="0"/>
          </a:p>
        </p:txBody>
      </p:sp>
      <p:sp>
        <p:nvSpPr>
          <p:cNvPr id="7" name="object 7"/>
          <p:cNvSpPr txBox="1"/>
          <p:nvPr/>
        </p:nvSpPr>
        <p:spPr>
          <a:xfrm>
            <a:off x="762000" y="2720826"/>
            <a:ext cx="16776065" cy="75661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GB" sz="4000" b="1" spc="60" dirty="0" smtClean="0">
              <a:solidFill>
                <a:srgbClr val="043A57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60" dirty="0" smtClean="0">
                <a:solidFill>
                  <a:srgbClr val="043A57"/>
                </a:solidFill>
                <a:latin typeface="Times New Roman"/>
                <a:cs typeface="Times New Roman"/>
              </a:rPr>
              <a:t>DEPARTMENT</a:t>
            </a:r>
            <a:r>
              <a:rPr sz="4000" b="1" spc="40" dirty="0" smtClean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spc="60" dirty="0">
                <a:solidFill>
                  <a:srgbClr val="043A57"/>
                </a:solidFill>
                <a:latin typeface="Times New Roman"/>
                <a:cs typeface="Times New Roman"/>
              </a:rPr>
              <a:t>OF</a:t>
            </a:r>
            <a:r>
              <a:rPr sz="4000" b="1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spc="75" dirty="0">
                <a:solidFill>
                  <a:srgbClr val="043A57"/>
                </a:solidFill>
                <a:latin typeface="Times New Roman"/>
                <a:cs typeface="Times New Roman"/>
              </a:rPr>
              <a:t>COMPUTER</a:t>
            </a:r>
            <a:r>
              <a:rPr sz="4000" b="1" spc="4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43A57"/>
                </a:solidFill>
                <a:latin typeface="Times New Roman"/>
                <a:cs typeface="Times New Roman"/>
              </a:rPr>
              <a:t>SCIENCE</a:t>
            </a:r>
            <a:r>
              <a:rPr sz="4000" b="1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spc="100" dirty="0">
                <a:solidFill>
                  <a:srgbClr val="043A57"/>
                </a:solidFill>
                <a:latin typeface="Times New Roman"/>
                <a:cs typeface="Times New Roman"/>
              </a:rPr>
              <a:t>AND</a:t>
            </a:r>
            <a:r>
              <a:rPr sz="4000" b="1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spc="100" dirty="0">
                <a:solidFill>
                  <a:srgbClr val="043A57"/>
                </a:solidFill>
                <a:latin typeface="Times New Roman"/>
                <a:cs typeface="Times New Roman"/>
              </a:rPr>
              <a:t>BUSINESS</a:t>
            </a:r>
            <a:r>
              <a:rPr sz="4000" b="1" spc="4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000" b="1" spc="75" dirty="0">
                <a:solidFill>
                  <a:srgbClr val="043A57"/>
                </a:solidFill>
                <a:latin typeface="Times New Roman"/>
                <a:cs typeface="Times New Roman"/>
              </a:rPr>
              <a:t>SYSTEMS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1596390" algn="ctr">
              <a:lnSpc>
                <a:spcPct val="100000"/>
              </a:lnSpc>
            </a:pPr>
            <a:r>
              <a:rPr sz="4600" spc="150" dirty="0">
                <a:solidFill>
                  <a:srgbClr val="043A57"/>
                </a:solidFill>
                <a:latin typeface="Times New Roman"/>
                <a:cs typeface="Times New Roman"/>
              </a:rPr>
              <a:t>BUSINESS</a:t>
            </a:r>
            <a:r>
              <a:rPr sz="4600" spc="3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4600" spc="285" dirty="0">
                <a:solidFill>
                  <a:srgbClr val="043A57"/>
                </a:solidFill>
                <a:latin typeface="Times New Roman"/>
                <a:cs typeface="Times New Roman"/>
              </a:rPr>
              <a:t>COMMUNICATION</a:t>
            </a:r>
            <a:endParaRPr sz="4600" dirty="0">
              <a:latin typeface="Times New Roman"/>
              <a:cs typeface="Times New Roman"/>
            </a:endParaRPr>
          </a:p>
          <a:p>
            <a:pPr marL="1888489" algn="ctr">
              <a:lnSpc>
                <a:spcPct val="100000"/>
              </a:lnSpc>
              <a:spcBef>
                <a:spcPts val="855"/>
              </a:spcBef>
            </a:pPr>
            <a:r>
              <a:rPr sz="4600" spc="65" dirty="0">
                <a:solidFill>
                  <a:srgbClr val="043A57"/>
                </a:solidFill>
                <a:latin typeface="Times New Roman"/>
                <a:cs typeface="Times New Roman"/>
              </a:rPr>
              <a:t>22CB658D</a:t>
            </a:r>
            <a:endParaRPr sz="4600" dirty="0">
              <a:latin typeface="Times New Roman"/>
              <a:cs typeface="Times New Roman"/>
            </a:endParaRPr>
          </a:p>
          <a:p>
            <a:pPr marL="1742439" algn="ctr">
              <a:lnSpc>
                <a:spcPct val="100000"/>
              </a:lnSpc>
              <a:spcBef>
                <a:spcPts val="5095"/>
              </a:spcBef>
              <a:tabLst>
                <a:tab pos="5815330" algn="l"/>
                <a:tab pos="8559165" algn="l"/>
                <a:tab pos="11489055" algn="l"/>
                <a:tab pos="13132435" algn="l"/>
              </a:tabLst>
            </a:pPr>
            <a:r>
              <a:rPr lang="en-GB" sz="5400" b="1" spc="-10" dirty="0" smtClean="0">
                <a:solidFill>
                  <a:srgbClr val="043A57"/>
                </a:solidFill>
                <a:latin typeface="Times New Roman"/>
                <a:cs typeface="Times New Roman"/>
              </a:rPr>
              <a:t>AEROGUARD-AIR PURIFIER</a:t>
            </a:r>
            <a:endParaRPr lang="en-GB" sz="5400" dirty="0">
              <a:latin typeface="Times New Roman"/>
              <a:cs typeface="Times New Roman"/>
            </a:endParaRPr>
          </a:p>
          <a:p>
            <a:pPr marL="1742439" algn="ctr">
              <a:lnSpc>
                <a:spcPct val="100000"/>
              </a:lnSpc>
              <a:spcBef>
                <a:spcPts val="5095"/>
              </a:spcBef>
              <a:tabLst>
                <a:tab pos="5815330" algn="l"/>
                <a:tab pos="8559165" algn="l"/>
                <a:tab pos="11489055" algn="l"/>
                <a:tab pos="13132435" algn="l"/>
              </a:tabLst>
            </a:pPr>
            <a:r>
              <a:rPr lang="en-GB" sz="4200" spc="-25" dirty="0" smtClean="0">
                <a:solidFill>
                  <a:srgbClr val="043A57"/>
                </a:solidFill>
                <a:latin typeface="Times New Roman"/>
                <a:cs typeface="Times New Roman"/>
              </a:rPr>
              <a:t>Presented </a:t>
            </a:r>
            <a:r>
              <a:rPr lang="en-GB" sz="4200" spc="-25" dirty="0">
                <a:solidFill>
                  <a:srgbClr val="043A57"/>
                </a:solidFill>
                <a:latin typeface="Times New Roman"/>
                <a:cs typeface="Times New Roman"/>
              </a:rPr>
              <a:t>b</a:t>
            </a:r>
            <a:r>
              <a:rPr sz="4200" spc="-25" dirty="0" smtClean="0">
                <a:solidFill>
                  <a:srgbClr val="043A57"/>
                </a:solidFill>
                <a:latin typeface="Times New Roman"/>
                <a:cs typeface="Times New Roman"/>
              </a:rPr>
              <a:t>y</a:t>
            </a:r>
            <a:r>
              <a:rPr sz="4200" spc="-25" dirty="0">
                <a:solidFill>
                  <a:srgbClr val="043A57"/>
                </a:solidFill>
                <a:latin typeface="Times New Roman"/>
                <a:cs typeface="Times New Roman"/>
              </a:rPr>
              <a:t>, </a:t>
            </a:r>
            <a:endParaRPr lang="en-GB" sz="4200" spc="-25" dirty="0" smtClean="0">
              <a:solidFill>
                <a:srgbClr val="043A57"/>
              </a:solidFill>
              <a:latin typeface="Times New Roman"/>
              <a:cs typeface="Times New Roman"/>
            </a:endParaRPr>
          </a:p>
          <a:p>
            <a:pPr marL="1742439" algn="ctr">
              <a:lnSpc>
                <a:spcPct val="100000"/>
              </a:lnSpc>
              <a:spcBef>
                <a:spcPts val="5095"/>
              </a:spcBef>
              <a:tabLst>
                <a:tab pos="5815330" algn="l"/>
                <a:tab pos="8559165" algn="l"/>
                <a:tab pos="11489055" algn="l"/>
                <a:tab pos="13132435" algn="l"/>
              </a:tabLst>
            </a:pPr>
            <a:r>
              <a:rPr lang="en-GB" sz="4200" spc="-25" dirty="0" err="1" smtClean="0">
                <a:solidFill>
                  <a:srgbClr val="043A57"/>
                </a:solidFill>
                <a:latin typeface="Times New Roman"/>
                <a:cs typeface="Times New Roman"/>
              </a:rPr>
              <a:t>Sinchana</a:t>
            </a:r>
            <a:r>
              <a:rPr lang="en-GB" sz="4200" spc="-25" dirty="0" smtClean="0">
                <a:solidFill>
                  <a:srgbClr val="043A57"/>
                </a:solidFill>
                <a:latin typeface="Times New Roman"/>
                <a:cs typeface="Times New Roman"/>
              </a:rPr>
              <a:t> C M-4MC22CB023</a:t>
            </a:r>
            <a:endParaRPr lang="en-GB" sz="4200" spc="-25" dirty="0">
              <a:solidFill>
                <a:srgbClr val="043A57"/>
              </a:solidFill>
              <a:latin typeface="Times New Roman"/>
              <a:cs typeface="Times New Roman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0955-B401-430E-A864-6D4CA90DD07F}" type="datetime1">
              <a:rPr lang="en-US" smtClean="0"/>
              <a:t>7/14/2025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79165" y="-571500"/>
            <a:ext cx="14808835" cy="9600565"/>
            <a:chOff x="3479436" y="86"/>
            <a:chExt cx="14808835" cy="9600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9436" y="86"/>
              <a:ext cx="9089652" cy="68101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7212" y="5262026"/>
              <a:ext cx="5643259" cy="24759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7273" y="5347261"/>
              <a:ext cx="5510896" cy="23808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64627" y="3322301"/>
              <a:ext cx="4107842" cy="18024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9232" y="3384057"/>
              <a:ext cx="4005899" cy="17308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5444" y="6108346"/>
              <a:ext cx="4503538" cy="19758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31456" y="6175654"/>
              <a:ext cx="4391776" cy="19006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78455" y="6390524"/>
              <a:ext cx="4809543" cy="24759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98517" y="6475759"/>
              <a:ext cx="4789482" cy="23808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76120" y="7410897"/>
              <a:ext cx="4989172" cy="21894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93858" y="7485864"/>
              <a:ext cx="4865358" cy="210565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60558" y="409299"/>
            <a:ext cx="13142120" cy="1375603"/>
          </a:xfrm>
          <a:prstGeom prst="rect">
            <a:avLst/>
          </a:prstGeom>
        </p:spPr>
        <p:txBody>
          <a:bodyPr vert="horz" wrap="square" lIns="0" tIns="539339" rIns="0" bIns="0" rtlCol="0">
            <a:spAutoFit/>
          </a:bodyPr>
          <a:lstStyle/>
          <a:p>
            <a:pPr marL="313690" algn="ctr">
              <a:lnSpc>
                <a:spcPct val="100000"/>
              </a:lnSpc>
              <a:spcBef>
                <a:spcPts val="135"/>
              </a:spcBef>
            </a:pPr>
            <a:r>
              <a:rPr b="1" spc="1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714462" y="9588166"/>
            <a:ext cx="205803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5</a:t>
            </a:r>
            <a:r>
              <a:rPr sz="3400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July</a:t>
            </a:r>
            <a:r>
              <a:rPr sz="3400" spc="4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043A57"/>
                </a:solidFill>
                <a:latin typeface="Times New Roman"/>
                <a:cs typeface="Times New Roman"/>
              </a:rPr>
              <a:t>2025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29332" y="9588166"/>
            <a:ext cx="1029779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spc="140" dirty="0">
                <a:solidFill>
                  <a:srgbClr val="043A57"/>
                </a:solidFill>
                <a:latin typeface="Times New Roman"/>
                <a:cs typeface="Times New Roman"/>
              </a:rPr>
              <a:t>Department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043A57"/>
                </a:solidFill>
                <a:latin typeface="Times New Roman"/>
                <a:cs typeface="Times New Roman"/>
              </a:rPr>
              <a:t>of</a:t>
            </a:r>
            <a:r>
              <a:rPr sz="3400" spc="35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35" dirty="0">
                <a:solidFill>
                  <a:srgbClr val="043A57"/>
                </a:solidFill>
                <a:latin typeface="Times New Roman"/>
                <a:cs typeface="Times New Roman"/>
              </a:rPr>
              <a:t>Computer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Science</a:t>
            </a:r>
            <a:r>
              <a:rPr sz="3400" spc="3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70" dirty="0">
                <a:solidFill>
                  <a:srgbClr val="043A57"/>
                </a:solidFill>
                <a:latin typeface="Times New Roman"/>
                <a:cs typeface="Times New Roman"/>
              </a:rPr>
              <a:t>and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2060"/>
                </a:solidFill>
                <a:latin typeface="Times New Roman"/>
                <a:cs typeface="Times New Roman"/>
              </a:rPr>
              <a:t>Business</a:t>
            </a:r>
            <a:r>
              <a:rPr sz="3400" spc="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02060"/>
                </a:solidFill>
                <a:latin typeface="Times New Roman"/>
                <a:cs typeface="Times New Roman"/>
              </a:rPr>
              <a:t>Systems</a:t>
            </a:r>
            <a:endParaRPr sz="3400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942" y="1953870"/>
            <a:ext cx="16896080" cy="73003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1568450" algn="l"/>
                <a:tab pos="3128645" algn="l"/>
                <a:tab pos="4657725" algn="l"/>
                <a:tab pos="6836409" algn="l"/>
                <a:tab pos="8650605" algn="l"/>
                <a:tab pos="9571355" algn="l"/>
                <a:tab pos="12146280" algn="l"/>
                <a:tab pos="12898120" algn="l"/>
                <a:tab pos="14121130" algn="l"/>
                <a:tab pos="14730730" algn="l"/>
                <a:tab pos="16069310" algn="l"/>
              </a:tabLst>
            </a:pP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years, indoor air pollution has emerged as a serious health concern, often surpassing outdoor pollution levels.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1568450" algn="l"/>
                <a:tab pos="3128645" algn="l"/>
                <a:tab pos="4657725" algn="l"/>
                <a:tab pos="6836409" algn="l"/>
                <a:tab pos="8650605" algn="l"/>
                <a:tab pos="9571355" algn="l"/>
                <a:tab pos="12146280" algn="l"/>
                <a:tab pos="12898120" algn="l"/>
                <a:tab pos="14121130" algn="l"/>
                <a:tab pos="14730730" algn="l"/>
                <a:tab pos="16069310" algn="l"/>
              </a:tabLst>
            </a:pP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pollutants such as dust, allergens, pet dander, smoke, </a:t>
            </a:r>
            <a:r>
              <a:rPr lang="en-GB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spores, and harmful microorganisms circulate freely inside homes and offices, leading to respiratory problems, allergies, and other chronic health issues.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Aeroguard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problem by offering advanced air purifiers designed to eliminate a wide range of pollutants, ensuring a healthier living and working environment.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7"/>
          <p:cNvSpPr txBox="1"/>
          <p:nvPr/>
        </p:nvSpPr>
        <p:spPr>
          <a:xfrm>
            <a:off x="17297400" y="9528750"/>
            <a:ext cx="1029779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lang="en-GB" sz="3400" spc="140" dirty="0" smtClean="0">
                <a:solidFill>
                  <a:srgbClr val="002060"/>
                </a:solidFill>
                <a:latin typeface="Times New Roman"/>
                <a:cs typeface="Times New Roman"/>
              </a:rPr>
              <a:t>2</a:t>
            </a:r>
            <a:endParaRPr sz="3400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9359"/>
            <a:ext cx="6305380" cy="91296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2497" y="49726"/>
            <a:ext cx="11887200" cy="1545399"/>
          </a:xfrm>
          <a:prstGeom prst="rect">
            <a:avLst/>
          </a:prstGeom>
        </p:spPr>
        <p:txBody>
          <a:bodyPr vert="horz" wrap="square" lIns="0" tIns="7074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b="1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1213375" y="1979701"/>
            <a:ext cx="15572735" cy="666336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 clean and safe indoor air has grown significantly due to increasing pollution levels, rising health awareness, and the aftermath of global health crises like COVID-19.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WHO, indoor air pollution causes millions of premature deaths annually, making air purification a necessity rather than a luxury.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Urbanization, industrialization, and the rise in respiratory illnesses such as asthma and allergies have further intensified the need for effective air purification solutions.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4462" y="9588166"/>
            <a:ext cx="205803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5</a:t>
            </a:r>
            <a:r>
              <a:rPr sz="3400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July</a:t>
            </a:r>
            <a:r>
              <a:rPr sz="3400" spc="4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043A57"/>
                </a:solidFill>
                <a:latin typeface="Times New Roman"/>
                <a:cs typeface="Times New Roman"/>
              </a:rPr>
              <a:t>2025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9332" y="9588166"/>
            <a:ext cx="1029779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spc="140" dirty="0">
                <a:solidFill>
                  <a:srgbClr val="043A57"/>
                </a:solidFill>
                <a:latin typeface="Times New Roman"/>
                <a:cs typeface="Times New Roman"/>
              </a:rPr>
              <a:t>Department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043A57"/>
                </a:solidFill>
                <a:latin typeface="Times New Roman"/>
                <a:cs typeface="Times New Roman"/>
              </a:rPr>
              <a:t>of</a:t>
            </a:r>
            <a:r>
              <a:rPr sz="3400" spc="35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35" dirty="0">
                <a:solidFill>
                  <a:srgbClr val="043A57"/>
                </a:solidFill>
                <a:latin typeface="Times New Roman"/>
                <a:cs typeface="Times New Roman"/>
              </a:rPr>
              <a:t>Computer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Science</a:t>
            </a:r>
            <a:r>
              <a:rPr sz="3400" spc="3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70" dirty="0">
                <a:solidFill>
                  <a:srgbClr val="043A57"/>
                </a:solidFill>
                <a:latin typeface="Times New Roman"/>
                <a:cs typeface="Times New Roman"/>
              </a:rPr>
              <a:t>and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Business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43A57"/>
                </a:solidFill>
                <a:latin typeface="Times New Roman"/>
                <a:cs typeface="Times New Roman"/>
              </a:rPr>
              <a:t>Systems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2" name="object 17"/>
          <p:cNvSpPr txBox="1"/>
          <p:nvPr/>
        </p:nvSpPr>
        <p:spPr>
          <a:xfrm>
            <a:off x="16916400" y="9588166"/>
            <a:ext cx="1029779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lang="en-GB" sz="3400" spc="140" dirty="0">
                <a:solidFill>
                  <a:srgbClr val="043A57"/>
                </a:solidFill>
                <a:latin typeface="Times New Roman"/>
                <a:cs typeface="Times New Roman"/>
              </a:rPr>
              <a:t>3</a:t>
            </a:r>
            <a:endParaRPr sz="3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831" y="2826331"/>
            <a:ext cx="115710" cy="11571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72497" y="1298518"/>
            <a:ext cx="1150302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6550" algn="l"/>
              </a:tabLst>
            </a:pPr>
            <a:r>
              <a:rPr sz="7900" spc="16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7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7900" spc="-53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79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9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sz="7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914400" y="3313677"/>
            <a:ext cx="11371937" cy="66319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Aeroguard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clean, safe, and healthy indoor air by effectively removing pollutants, allergens, bacteria, and viruses—ensuring a healthier environment for homes and workplaces</a:t>
            </a: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powerful solution to indoor air pollution through its advanced multi-stage filtration system, effectively removing dust, allergens, smoke, bacteria, </a:t>
            </a: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viruses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GB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15528811" y="1164751"/>
            <a:ext cx="1257299" cy="430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0"/>
              </a:lnSpc>
            </a:pPr>
            <a:endParaRPr spc="-50" dirty="0"/>
          </a:p>
        </p:txBody>
      </p:sp>
      <p:sp>
        <p:nvSpPr>
          <p:cNvPr id="11" name="object 11"/>
          <p:cNvSpPr txBox="1"/>
          <p:nvPr/>
        </p:nvSpPr>
        <p:spPr>
          <a:xfrm>
            <a:off x="714462" y="9588166"/>
            <a:ext cx="205803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5</a:t>
            </a:r>
            <a:r>
              <a:rPr sz="3400" spc="4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July</a:t>
            </a:r>
            <a:r>
              <a:rPr sz="3400" spc="4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043A57"/>
                </a:solidFill>
                <a:latin typeface="Times New Roman"/>
                <a:cs typeface="Times New Roman"/>
              </a:rPr>
              <a:t>2025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9332" y="9588166"/>
            <a:ext cx="1029779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20"/>
              </a:lnSpc>
            </a:pPr>
            <a:r>
              <a:rPr sz="3400" spc="140" dirty="0">
                <a:solidFill>
                  <a:srgbClr val="043A57"/>
                </a:solidFill>
                <a:latin typeface="Times New Roman"/>
                <a:cs typeface="Times New Roman"/>
              </a:rPr>
              <a:t>Department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043A57"/>
                </a:solidFill>
                <a:latin typeface="Times New Roman"/>
                <a:cs typeface="Times New Roman"/>
              </a:rPr>
              <a:t>of</a:t>
            </a:r>
            <a:r>
              <a:rPr sz="3400" spc="35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35" dirty="0">
                <a:solidFill>
                  <a:srgbClr val="043A57"/>
                </a:solidFill>
                <a:latin typeface="Times New Roman"/>
                <a:cs typeface="Times New Roman"/>
              </a:rPr>
              <a:t>Computer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Science</a:t>
            </a:r>
            <a:r>
              <a:rPr sz="3400" spc="30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170" dirty="0">
                <a:solidFill>
                  <a:srgbClr val="043A57"/>
                </a:solidFill>
                <a:latin typeface="Times New Roman"/>
                <a:cs typeface="Times New Roman"/>
              </a:rPr>
              <a:t>and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43A57"/>
                </a:solidFill>
                <a:latin typeface="Times New Roman"/>
                <a:cs typeface="Times New Roman"/>
              </a:rPr>
              <a:t>Business</a:t>
            </a:r>
            <a:r>
              <a:rPr sz="3400" spc="25" dirty="0">
                <a:solidFill>
                  <a:srgbClr val="043A57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43A57"/>
                </a:solidFill>
                <a:latin typeface="Times New Roman"/>
                <a:cs typeface="Times New Roman"/>
              </a:rPr>
              <a:t>Systems</a:t>
            </a: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3905250"/>
            <a:ext cx="4433166" cy="461452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768722" y="9442918"/>
            <a:ext cx="433452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3220"/>
              </a:lnSpc>
            </a:pPr>
            <a:r>
              <a:rPr lang="en-GB" sz="3400" spc="140" dirty="0">
                <a:solidFill>
                  <a:srgbClr val="043A57"/>
                </a:solidFill>
                <a:latin typeface="Times New Roman"/>
                <a:cs typeface="Times New Roman"/>
              </a:rPr>
              <a:t>4</a:t>
            </a:r>
            <a:endParaRPr lang="en-GB" sz="3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5067300"/>
            <a:ext cx="12112625" cy="234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5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15200" spc="1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200" spc="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15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90069" y="9049418"/>
            <a:ext cx="3397885" cy="417830"/>
          </a:xfrm>
          <a:custGeom>
            <a:avLst/>
            <a:gdLst/>
            <a:ahLst/>
            <a:cxnLst/>
            <a:rect l="l" t="t" r="r" b="b"/>
            <a:pathLst>
              <a:path w="3397884" h="417829">
                <a:moveTo>
                  <a:pt x="3397563" y="417760"/>
                </a:moveTo>
                <a:lnTo>
                  <a:pt x="0" y="417760"/>
                </a:lnTo>
                <a:lnTo>
                  <a:pt x="0" y="0"/>
                </a:lnTo>
                <a:lnTo>
                  <a:pt x="3397563" y="0"/>
                </a:lnTo>
                <a:lnTo>
                  <a:pt x="3397563" y="417760"/>
                </a:lnTo>
                <a:close/>
              </a:path>
            </a:pathLst>
          </a:custGeom>
          <a:solidFill>
            <a:srgbClr val="043A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220"/>
              </a:lnSpc>
            </a:pPr>
            <a:fld id="{81D60167-4931-47E6-BA6A-407CBD079E47}" type="slidenum">
              <a:rPr lang="en-IN" spc="-50" smtClean="0"/>
              <a:t>5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290</Words>
  <Application>Microsoft Office PowerPoint</Application>
  <PresentationFormat>Custom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Times New Roman</vt:lpstr>
      <vt:lpstr>Wingdings 3</vt:lpstr>
      <vt:lpstr>Ion Boardroom</vt:lpstr>
      <vt:lpstr>MALNAD COLLEGE OF ENGINEERING</vt:lpstr>
      <vt:lpstr>PROBLEM</vt:lpstr>
      <vt:lpstr>MARKET NEED &amp; OPPORTUNITY</vt:lpstr>
      <vt:lpstr>PRODUCT &amp; BENEFITS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Larana Inc</dc:title>
  <dc:creator>Dimpana T Raj</dc:creator>
  <cp:keywords>DAGsNkeBHkc,BAGQiN_WlGI,0</cp:keywords>
  <cp:lastModifiedBy>User</cp:lastModifiedBy>
  <cp:revision>8</cp:revision>
  <dcterms:created xsi:type="dcterms:W3CDTF">2025-07-05T03:14:01Z</dcterms:created>
  <dcterms:modified xsi:type="dcterms:W3CDTF">2025-07-14T13:25:20Z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Creator">
    <vt:lpwstr>Canva</vt:lpwstr>
  </property>
  <property fmtid="{D5CDD505-2E9C-101B-9397-08002B2CF9AE}" pid="4" name="LastSaved">
    <vt:filetime>2025-07-05T00:00:00Z</vt:filetime>
  </property>
  <property fmtid="{D5CDD505-2E9C-101B-9397-08002B2CF9AE}" pid="5" name="Producer">
    <vt:lpwstr>Canva</vt:lpwstr>
  </property>
</Properties>
</file>
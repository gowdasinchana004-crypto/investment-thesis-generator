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68" r:id="rId3"/>
    <p:sldId id="256" r:id="rId4"/>
    <p:sldId id="259" r:id="rId5"/>
    <p:sldId id="271" r:id="rId6"/>
    <p:sldId id="274" r:id="rId7"/>
    <p:sldId id="275" r:id="rId8"/>
    <p:sldId id="276" r:id="rId9"/>
    <p:sldId id="277" r:id="rId10"/>
    <p:sldId id="278" r:id="rId11"/>
    <p:sldId id="279" r:id="rId12"/>
    <p:sldId id="280" r:id="rId13"/>
    <p:sldId id="281" r:id="rId14"/>
    <p:sldId id="282" r:id="rId15"/>
    <p:sldId id="284"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80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7FB6F-C574-41ED-8C4F-215CDC152744}" type="datetimeFigureOut">
              <a:rPr lang="en-IN" smtClean="0"/>
              <a:t>08-03-2026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D8B19-4D0D-4ED4-B50A-563A864E36E9}" type="slidenum">
              <a:rPr lang="en-IN" smtClean="0"/>
              <a:t>‹#›</a:t>
            </a:fld>
            <a:endParaRPr lang="en-IN"/>
          </a:p>
        </p:txBody>
      </p:sp>
    </p:spTree>
    <p:extLst>
      <p:ext uri="{BB962C8B-B14F-4D97-AF65-F5344CB8AC3E}">
        <p14:creationId xmlns:p14="http://schemas.microsoft.com/office/powerpoint/2010/main" val="3712821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C25A-EDF1-17D5-43CB-A6DC240D37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294202-C4D7-C235-9707-F70C64FED6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2EBB5C-2A2D-44B2-7BE1-B81BC90DFD63}"/>
              </a:ext>
            </a:extLst>
          </p:cNvPr>
          <p:cNvSpPr>
            <a:spLocks noGrp="1"/>
          </p:cNvSpPr>
          <p:nvPr>
            <p:ph type="dt" sz="half" idx="10"/>
          </p:nvPr>
        </p:nvSpPr>
        <p:spPr/>
        <p:txBody>
          <a:bodyPr/>
          <a:lstStyle/>
          <a:p>
            <a:fld id="{91F8CC8D-A5D5-47D0-A1F9-851E50F75540}" type="datetime3">
              <a:rPr lang="en-IN" smtClean="0"/>
              <a:t>8 March 2026</a:t>
            </a:fld>
            <a:endParaRPr lang="en-IN"/>
          </a:p>
        </p:txBody>
      </p:sp>
      <p:sp>
        <p:nvSpPr>
          <p:cNvPr id="5" name="Footer Placeholder 4">
            <a:extLst>
              <a:ext uri="{FF2B5EF4-FFF2-40B4-BE49-F238E27FC236}">
                <a16:creationId xmlns:a16="http://schemas.microsoft.com/office/drawing/2014/main" id="{F6048A1D-4D1D-16E7-4ED6-FA00780AB012}"/>
              </a:ext>
            </a:extLst>
          </p:cNvPr>
          <p:cNvSpPr>
            <a:spLocks noGrp="1"/>
          </p:cNvSpPr>
          <p:nvPr>
            <p:ph type="ftr" sz="quarter" idx="11"/>
          </p:nvPr>
        </p:nvSpPr>
        <p:spPr/>
        <p:txBody>
          <a:bodyPr/>
          <a:lstStyle/>
          <a:p>
            <a:r>
              <a:rPr lang="en-IN" smtClean="0"/>
              <a:t>Dept of CS&amp;BS,MCE,Hassan</a:t>
            </a:r>
            <a:endParaRPr lang="en-IN"/>
          </a:p>
        </p:txBody>
      </p:sp>
      <p:sp>
        <p:nvSpPr>
          <p:cNvPr id="6" name="Slide Number Placeholder 5">
            <a:extLst>
              <a:ext uri="{FF2B5EF4-FFF2-40B4-BE49-F238E27FC236}">
                <a16:creationId xmlns:a16="http://schemas.microsoft.com/office/drawing/2014/main" id="{E9572A4A-50FC-F9F0-2F52-AAE2D1E92E6E}"/>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129483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D6412-4F22-9328-D116-025EFD16752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BB848A-382A-02DA-F4DA-BB7A94DA43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65DDA-437D-66C2-0B4E-D07CB8A56249}"/>
              </a:ext>
            </a:extLst>
          </p:cNvPr>
          <p:cNvSpPr>
            <a:spLocks noGrp="1"/>
          </p:cNvSpPr>
          <p:nvPr>
            <p:ph type="dt" sz="half" idx="10"/>
          </p:nvPr>
        </p:nvSpPr>
        <p:spPr/>
        <p:txBody>
          <a:bodyPr/>
          <a:lstStyle/>
          <a:p>
            <a:fld id="{5CC0948B-4231-4CA5-B386-2E3079481038}" type="datetime3">
              <a:rPr lang="en-IN" smtClean="0"/>
              <a:t>8 March 2026</a:t>
            </a:fld>
            <a:endParaRPr lang="en-IN"/>
          </a:p>
        </p:txBody>
      </p:sp>
      <p:sp>
        <p:nvSpPr>
          <p:cNvPr id="5" name="Footer Placeholder 4">
            <a:extLst>
              <a:ext uri="{FF2B5EF4-FFF2-40B4-BE49-F238E27FC236}">
                <a16:creationId xmlns:a16="http://schemas.microsoft.com/office/drawing/2014/main" id="{D39E2293-D35F-B162-1040-85A4256571E8}"/>
              </a:ext>
            </a:extLst>
          </p:cNvPr>
          <p:cNvSpPr>
            <a:spLocks noGrp="1"/>
          </p:cNvSpPr>
          <p:nvPr>
            <p:ph type="ftr" sz="quarter" idx="11"/>
          </p:nvPr>
        </p:nvSpPr>
        <p:spPr/>
        <p:txBody>
          <a:bodyPr/>
          <a:lstStyle/>
          <a:p>
            <a:r>
              <a:rPr lang="en-IN" smtClean="0"/>
              <a:t>Dept of CS&amp;BS,MCE,Hassan</a:t>
            </a:r>
            <a:endParaRPr lang="en-IN"/>
          </a:p>
        </p:txBody>
      </p:sp>
      <p:sp>
        <p:nvSpPr>
          <p:cNvPr id="6" name="Slide Number Placeholder 5">
            <a:extLst>
              <a:ext uri="{FF2B5EF4-FFF2-40B4-BE49-F238E27FC236}">
                <a16:creationId xmlns:a16="http://schemas.microsoft.com/office/drawing/2014/main" id="{2EB6239A-B5CE-DFD0-BA4C-93AF9EF7458C}"/>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1370379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48560-7626-D9F1-42FC-8AC5348BF5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6738C7-0F50-2F68-D2A4-C343034846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309713-65FA-78C4-70FA-FA6B2D010C03}"/>
              </a:ext>
            </a:extLst>
          </p:cNvPr>
          <p:cNvSpPr>
            <a:spLocks noGrp="1"/>
          </p:cNvSpPr>
          <p:nvPr>
            <p:ph type="dt" sz="half" idx="10"/>
          </p:nvPr>
        </p:nvSpPr>
        <p:spPr/>
        <p:txBody>
          <a:bodyPr/>
          <a:lstStyle/>
          <a:p>
            <a:fld id="{B5D1EAA9-5FCE-4C45-8330-794021F8759D}" type="datetime3">
              <a:rPr lang="en-IN" smtClean="0"/>
              <a:t>8 March 2026</a:t>
            </a:fld>
            <a:endParaRPr lang="en-IN"/>
          </a:p>
        </p:txBody>
      </p:sp>
      <p:sp>
        <p:nvSpPr>
          <p:cNvPr id="5" name="Footer Placeholder 4">
            <a:extLst>
              <a:ext uri="{FF2B5EF4-FFF2-40B4-BE49-F238E27FC236}">
                <a16:creationId xmlns:a16="http://schemas.microsoft.com/office/drawing/2014/main" id="{568A144A-CFAF-AFD1-A88C-F29E690043BE}"/>
              </a:ext>
            </a:extLst>
          </p:cNvPr>
          <p:cNvSpPr>
            <a:spLocks noGrp="1"/>
          </p:cNvSpPr>
          <p:nvPr>
            <p:ph type="ftr" sz="quarter" idx="11"/>
          </p:nvPr>
        </p:nvSpPr>
        <p:spPr/>
        <p:txBody>
          <a:bodyPr/>
          <a:lstStyle/>
          <a:p>
            <a:r>
              <a:rPr lang="en-IN" smtClean="0"/>
              <a:t>Dept of CS&amp;BS,MCE,Hassan</a:t>
            </a:r>
            <a:endParaRPr lang="en-IN"/>
          </a:p>
        </p:txBody>
      </p:sp>
      <p:sp>
        <p:nvSpPr>
          <p:cNvPr id="6" name="Slide Number Placeholder 5">
            <a:extLst>
              <a:ext uri="{FF2B5EF4-FFF2-40B4-BE49-F238E27FC236}">
                <a16:creationId xmlns:a16="http://schemas.microsoft.com/office/drawing/2014/main" id="{5BB50604-F986-150F-47AD-A805D54709C7}"/>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1271261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71252-2EEB-BD05-1AC2-ACFE90F70C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296C5C-A260-2FB2-0B93-968C75A97B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0D43DF-4F42-54FB-A791-97B07C5515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F13C7CD-C6EB-6E17-FFD2-20ABAD35AA7A}"/>
              </a:ext>
            </a:extLst>
          </p:cNvPr>
          <p:cNvSpPr>
            <a:spLocks noGrp="1"/>
          </p:cNvSpPr>
          <p:nvPr>
            <p:ph type="dt" sz="half" idx="10"/>
          </p:nvPr>
        </p:nvSpPr>
        <p:spPr/>
        <p:txBody>
          <a:bodyPr/>
          <a:lstStyle/>
          <a:p>
            <a:fld id="{321EDE9C-10EF-479D-9EDE-ECD597A195F6}" type="datetime3">
              <a:rPr lang="en-IN" smtClean="0"/>
              <a:t>8 March 2026</a:t>
            </a:fld>
            <a:endParaRPr lang="en-IN"/>
          </a:p>
        </p:txBody>
      </p:sp>
      <p:sp>
        <p:nvSpPr>
          <p:cNvPr id="6" name="Footer Placeholder 5">
            <a:extLst>
              <a:ext uri="{FF2B5EF4-FFF2-40B4-BE49-F238E27FC236}">
                <a16:creationId xmlns:a16="http://schemas.microsoft.com/office/drawing/2014/main" id="{57C6A20D-C209-8C45-BCAA-5166D218F49F}"/>
              </a:ext>
            </a:extLst>
          </p:cNvPr>
          <p:cNvSpPr>
            <a:spLocks noGrp="1"/>
          </p:cNvSpPr>
          <p:nvPr>
            <p:ph type="ftr" sz="quarter" idx="11"/>
          </p:nvPr>
        </p:nvSpPr>
        <p:spPr/>
        <p:txBody>
          <a:bodyPr/>
          <a:lstStyle/>
          <a:p>
            <a:r>
              <a:rPr lang="en-IN" smtClean="0"/>
              <a:t>Dept of CS&amp;BS,MCE,Hassan</a:t>
            </a:r>
            <a:endParaRPr lang="en-IN"/>
          </a:p>
        </p:txBody>
      </p:sp>
      <p:sp>
        <p:nvSpPr>
          <p:cNvPr id="7" name="Slide Number Placeholder 6">
            <a:extLst>
              <a:ext uri="{FF2B5EF4-FFF2-40B4-BE49-F238E27FC236}">
                <a16:creationId xmlns:a16="http://schemas.microsoft.com/office/drawing/2014/main" id="{24B72173-8576-C06B-8E73-9C11B6FEB08F}"/>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14021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91C71-90F3-E9BE-53AB-614799BBB6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E62418-BD0B-B4F6-E052-609C5D47F7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70298F-0CBA-936D-F72C-19D70C6D1F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CE7C0E-1FB1-784A-EFC6-80CEC8C020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8CEC6E-E89D-50C7-C37D-A936297A87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245099-EF08-B9A3-CB51-75D69013802B}"/>
              </a:ext>
            </a:extLst>
          </p:cNvPr>
          <p:cNvSpPr>
            <a:spLocks noGrp="1"/>
          </p:cNvSpPr>
          <p:nvPr>
            <p:ph type="dt" sz="half" idx="10"/>
          </p:nvPr>
        </p:nvSpPr>
        <p:spPr/>
        <p:txBody>
          <a:bodyPr/>
          <a:lstStyle/>
          <a:p>
            <a:fld id="{964D4D9F-C2E4-4CED-8A0F-0EDCB7A7082E}" type="datetime3">
              <a:rPr lang="en-IN" smtClean="0"/>
              <a:t>8 March 2026</a:t>
            </a:fld>
            <a:endParaRPr lang="en-IN"/>
          </a:p>
        </p:txBody>
      </p:sp>
      <p:sp>
        <p:nvSpPr>
          <p:cNvPr id="8" name="Footer Placeholder 7">
            <a:extLst>
              <a:ext uri="{FF2B5EF4-FFF2-40B4-BE49-F238E27FC236}">
                <a16:creationId xmlns:a16="http://schemas.microsoft.com/office/drawing/2014/main" id="{CA8D654C-1631-7DDA-7699-63862019E67E}"/>
              </a:ext>
            </a:extLst>
          </p:cNvPr>
          <p:cNvSpPr>
            <a:spLocks noGrp="1"/>
          </p:cNvSpPr>
          <p:nvPr>
            <p:ph type="ftr" sz="quarter" idx="11"/>
          </p:nvPr>
        </p:nvSpPr>
        <p:spPr/>
        <p:txBody>
          <a:bodyPr/>
          <a:lstStyle/>
          <a:p>
            <a:r>
              <a:rPr lang="en-IN" smtClean="0"/>
              <a:t>Dept of CS&amp;BS,MCE,Hassan</a:t>
            </a:r>
            <a:endParaRPr lang="en-IN"/>
          </a:p>
        </p:txBody>
      </p:sp>
      <p:sp>
        <p:nvSpPr>
          <p:cNvPr id="9" name="Slide Number Placeholder 8">
            <a:extLst>
              <a:ext uri="{FF2B5EF4-FFF2-40B4-BE49-F238E27FC236}">
                <a16:creationId xmlns:a16="http://schemas.microsoft.com/office/drawing/2014/main" id="{0D643718-2D2C-5258-5749-504648750DC0}"/>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108455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75F20-45F5-8B1C-BAAD-D429D2077E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E6A46B-6D01-B8DB-C5DF-216604B12424}"/>
              </a:ext>
            </a:extLst>
          </p:cNvPr>
          <p:cNvSpPr>
            <a:spLocks noGrp="1"/>
          </p:cNvSpPr>
          <p:nvPr>
            <p:ph type="dt" sz="half" idx="10"/>
          </p:nvPr>
        </p:nvSpPr>
        <p:spPr/>
        <p:txBody>
          <a:bodyPr/>
          <a:lstStyle/>
          <a:p>
            <a:fld id="{D03E71A6-1257-4769-8101-C1D494BA4AEF}" type="datetime3">
              <a:rPr lang="en-IN" smtClean="0"/>
              <a:t>8 March 2026</a:t>
            </a:fld>
            <a:endParaRPr lang="en-IN"/>
          </a:p>
        </p:txBody>
      </p:sp>
      <p:sp>
        <p:nvSpPr>
          <p:cNvPr id="4" name="Footer Placeholder 3">
            <a:extLst>
              <a:ext uri="{FF2B5EF4-FFF2-40B4-BE49-F238E27FC236}">
                <a16:creationId xmlns:a16="http://schemas.microsoft.com/office/drawing/2014/main" id="{E3AAF45E-C96E-8A31-75A2-E6889AA6B51D}"/>
              </a:ext>
            </a:extLst>
          </p:cNvPr>
          <p:cNvSpPr>
            <a:spLocks noGrp="1"/>
          </p:cNvSpPr>
          <p:nvPr>
            <p:ph type="ftr" sz="quarter" idx="11"/>
          </p:nvPr>
        </p:nvSpPr>
        <p:spPr/>
        <p:txBody>
          <a:bodyPr/>
          <a:lstStyle/>
          <a:p>
            <a:r>
              <a:rPr lang="en-IN" smtClean="0"/>
              <a:t>Dept of CS&amp;BS,MCE,Hassan</a:t>
            </a:r>
            <a:endParaRPr lang="en-IN"/>
          </a:p>
        </p:txBody>
      </p:sp>
      <p:sp>
        <p:nvSpPr>
          <p:cNvPr id="5" name="Slide Number Placeholder 4">
            <a:extLst>
              <a:ext uri="{FF2B5EF4-FFF2-40B4-BE49-F238E27FC236}">
                <a16:creationId xmlns:a16="http://schemas.microsoft.com/office/drawing/2014/main" id="{CAD746B0-5D22-F3A8-B23F-B74BDED19FFD}"/>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2187276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BC3E8F-FFD0-5C81-58BB-F1BD4D5FD604}"/>
              </a:ext>
            </a:extLst>
          </p:cNvPr>
          <p:cNvSpPr>
            <a:spLocks noGrp="1"/>
          </p:cNvSpPr>
          <p:nvPr>
            <p:ph type="dt" sz="half" idx="10"/>
          </p:nvPr>
        </p:nvSpPr>
        <p:spPr/>
        <p:txBody>
          <a:bodyPr/>
          <a:lstStyle/>
          <a:p>
            <a:fld id="{A4D9A7E1-ED2D-4FB8-AF7F-A7ABAD2C6D6D}" type="datetime3">
              <a:rPr lang="en-IN" smtClean="0"/>
              <a:t>8 March 2026</a:t>
            </a:fld>
            <a:endParaRPr lang="en-IN"/>
          </a:p>
        </p:txBody>
      </p:sp>
      <p:sp>
        <p:nvSpPr>
          <p:cNvPr id="3" name="Footer Placeholder 2">
            <a:extLst>
              <a:ext uri="{FF2B5EF4-FFF2-40B4-BE49-F238E27FC236}">
                <a16:creationId xmlns:a16="http://schemas.microsoft.com/office/drawing/2014/main" id="{9A3A7417-1DFF-FF1A-48EA-5DB6FCD06583}"/>
              </a:ext>
            </a:extLst>
          </p:cNvPr>
          <p:cNvSpPr>
            <a:spLocks noGrp="1"/>
          </p:cNvSpPr>
          <p:nvPr>
            <p:ph type="ftr" sz="quarter" idx="11"/>
          </p:nvPr>
        </p:nvSpPr>
        <p:spPr/>
        <p:txBody>
          <a:bodyPr/>
          <a:lstStyle/>
          <a:p>
            <a:r>
              <a:rPr lang="en-IN" smtClean="0"/>
              <a:t>Dept of CS&amp;BS,MCE,Hassan</a:t>
            </a:r>
            <a:endParaRPr lang="en-IN"/>
          </a:p>
        </p:txBody>
      </p:sp>
      <p:sp>
        <p:nvSpPr>
          <p:cNvPr id="4" name="Slide Number Placeholder 3">
            <a:extLst>
              <a:ext uri="{FF2B5EF4-FFF2-40B4-BE49-F238E27FC236}">
                <a16:creationId xmlns:a16="http://schemas.microsoft.com/office/drawing/2014/main" id="{5493E7E3-CB3D-41D9-DB58-78B796D4290D}"/>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1605289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06A7-B764-B1B6-AD0B-5A32E1E38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F7B32F-A493-A72D-04EF-9F15F96E90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BF48C7-F7CD-9AE4-61CE-E54C00A82F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B277C-3890-E8D1-9771-9B1D78423C39}"/>
              </a:ext>
            </a:extLst>
          </p:cNvPr>
          <p:cNvSpPr>
            <a:spLocks noGrp="1"/>
          </p:cNvSpPr>
          <p:nvPr>
            <p:ph type="dt" sz="half" idx="10"/>
          </p:nvPr>
        </p:nvSpPr>
        <p:spPr/>
        <p:txBody>
          <a:bodyPr/>
          <a:lstStyle/>
          <a:p>
            <a:fld id="{E1A3F8DB-E92B-467C-B361-DC4DBEC40A25}" type="datetime3">
              <a:rPr lang="en-IN" smtClean="0"/>
              <a:t>8 March 2026</a:t>
            </a:fld>
            <a:endParaRPr lang="en-IN"/>
          </a:p>
        </p:txBody>
      </p:sp>
      <p:sp>
        <p:nvSpPr>
          <p:cNvPr id="6" name="Footer Placeholder 5">
            <a:extLst>
              <a:ext uri="{FF2B5EF4-FFF2-40B4-BE49-F238E27FC236}">
                <a16:creationId xmlns:a16="http://schemas.microsoft.com/office/drawing/2014/main" id="{9B989075-2BC6-6EDA-AC25-27A3D2008BAD}"/>
              </a:ext>
            </a:extLst>
          </p:cNvPr>
          <p:cNvSpPr>
            <a:spLocks noGrp="1"/>
          </p:cNvSpPr>
          <p:nvPr>
            <p:ph type="ftr" sz="quarter" idx="11"/>
          </p:nvPr>
        </p:nvSpPr>
        <p:spPr/>
        <p:txBody>
          <a:bodyPr/>
          <a:lstStyle/>
          <a:p>
            <a:r>
              <a:rPr lang="en-IN" smtClean="0"/>
              <a:t>Dept of CS&amp;BS,MCE,Hassan</a:t>
            </a:r>
            <a:endParaRPr lang="en-IN"/>
          </a:p>
        </p:txBody>
      </p:sp>
      <p:sp>
        <p:nvSpPr>
          <p:cNvPr id="7" name="Slide Number Placeholder 6">
            <a:extLst>
              <a:ext uri="{FF2B5EF4-FFF2-40B4-BE49-F238E27FC236}">
                <a16:creationId xmlns:a16="http://schemas.microsoft.com/office/drawing/2014/main" id="{0180BFF3-B18E-DB05-1C82-731D5F1F4E9E}"/>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3901704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F391-9404-0A58-AB41-2394F2698B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CB0ECF-CDB6-3343-FD55-FD2ABF843B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84F0F63-B35B-B7C3-C28A-977F3EA89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6AB5C7-20F2-CC1B-7EE5-60A806346E83}"/>
              </a:ext>
            </a:extLst>
          </p:cNvPr>
          <p:cNvSpPr>
            <a:spLocks noGrp="1"/>
          </p:cNvSpPr>
          <p:nvPr>
            <p:ph type="dt" sz="half" idx="10"/>
          </p:nvPr>
        </p:nvSpPr>
        <p:spPr/>
        <p:txBody>
          <a:bodyPr/>
          <a:lstStyle/>
          <a:p>
            <a:fld id="{7F11617B-69C8-4EAC-B9EA-5D86A09A4B88}" type="datetime3">
              <a:rPr lang="en-IN" smtClean="0"/>
              <a:t>8 March 2026</a:t>
            </a:fld>
            <a:endParaRPr lang="en-IN"/>
          </a:p>
        </p:txBody>
      </p:sp>
      <p:sp>
        <p:nvSpPr>
          <p:cNvPr id="6" name="Footer Placeholder 5">
            <a:extLst>
              <a:ext uri="{FF2B5EF4-FFF2-40B4-BE49-F238E27FC236}">
                <a16:creationId xmlns:a16="http://schemas.microsoft.com/office/drawing/2014/main" id="{CEBAFB9B-56EF-DB34-719A-3D9113655DEE}"/>
              </a:ext>
            </a:extLst>
          </p:cNvPr>
          <p:cNvSpPr>
            <a:spLocks noGrp="1"/>
          </p:cNvSpPr>
          <p:nvPr>
            <p:ph type="ftr" sz="quarter" idx="11"/>
          </p:nvPr>
        </p:nvSpPr>
        <p:spPr/>
        <p:txBody>
          <a:bodyPr/>
          <a:lstStyle/>
          <a:p>
            <a:r>
              <a:rPr lang="en-IN" smtClean="0"/>
              <a:t>Dept of CS&amp;BS,MCE,Hassan</a:t>
            </a:r>
            <a:endParaRPr lang="en-IN"/>
          </a:p>
        </p:txBody>
      </p:sp>
      <p:sp>
        <p:nvSpPr>
          <p:cNvPr id="7" name="Slide Number Placeholder 6">
            <a:extLst>
              <a:ext uri="{FF2B5EF4-FFF2-40B4-BE49-F238E27FC236}">
                <a16:creationId xmlns:a16="http://schemas.microsoft.com/office/drawing/2014/main" id="{ADB0513E-9CB7-7E1B-B606-38EE28166343}"/>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255964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4B7FD-BA3E-0AA2-54C9-D9DB0AF3E0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59D431-78D5-DADC-117A-CCB349A206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538292-EA8B-AC1F-6B19-D758F22C178A}"/>
              </a:ext>
            </a:extLst>
          </p:cNvPr>
          <p:cNvSpPr>
            <a:spLocks noGrp="1"/>
          </p:cNvSpPr>
          <p:nvPr>
            <p:ph type="dt" sz="half" idx="10"/>
          </p:nvPr>
        </p:nvSpPr>
        <p:spPr/>
        <p:txBody>
          <a:bodyPr/>
          <a:lstStyle/>
          <a:p>
            <a:fld id="{22350449-1441-43CF-9AC2-DCE7B9519488}" type="datetime3">
              <a:rPr lang="en-IN" smtClean="0"/>
              <a:t>8 March 2026</a:t>
            </a:fld>
            <a:endParaRPr lang="en-IN"/>
          </a:p>
        </p:txBody>
      </p:sp>
      <p:sp>
        <p:nvSpPr>
          <p:cNvPr id="5" name="Footer Placeholder 4">
            <a:extLst>
              <a:ext uri="{FF2B5EF4-FFF2-40B4-BE49-F238E27FC236}">
                <a16:creationId xmlns:a16="http://schemas.microsoft.com/office/drawing/2014/main" id="{0933059B-6357-C00C-A53A-6EF9B46D749E}"/>
              </a:ext>
            </a:extLst>
          </p:cNvPr>
          <p:cNvSpPr>
            <a:spLocks noGrp="1"/>
          </p:cNvSpPr>
          <p:nvPr>
            <p:ph type="ftr" sz="quarter" idx="11"/>
          </p:nvPr>
        </p:nvSpPr>
        <p:spPr/>
        <p:txBody>
          <a:bodyPr/>
          <a:lstStyle/>
          <a:p>
            <a:r>
              <a:rPr lang="en-IN" smtClean="0"/>
              <a:t>Dept of CS&amp;BS,MCE,Hassan</a:t>
            </a:r>
            <a:endParaRPr lang="en-IN"/>
          </a:p>
        </p:txBody>
      </p:sp>
      <p:sp>
        <p:nvSpPr>
          <p:cNvPr id="6" name="Slide Number Placeholder 5">
            <a:extLst>
              <a:ext uri="{FF2B5EF4-FFF2-40B4-BE49-F238E27FC236}">
                <a16:creationId xmlns:a16="http://schemas.microsoft.com/office/drawing/2014/main" id="{B1E424F8-5093-5875-6D4F-2D590E029418}"/>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2158645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3969BE-16AB-3F01-B648-8884A7C5BA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1C43C8-B8BD-F5CD-E5D4-69191D5519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FED9C4-EB5B-455C-688D-EE73C869FE8B}"/>
              </a:ext>
            </a:extLst>
          </p:cNvPr>
          <p:cNvSpPr>
            <a:spLocks noGrp="1"/>
          </p:cNvSpPr>
          <p:nvPr>
            <p:ph type="dt" sz="half" idx="10"/>
          </p:nvPr>
        </p:nvSpPr>
        <p:spPr/>
        <p:txBody>
          <a:bodyPr/>
          <a:lstStyle/>
          <a:p>
            <a:fld id="{A66066F5-5888-4024-BE3E-D64038856434}" type="datetime3">
              <a:rPr lang="en-IN" smtClean="0"/>
              <a:t>8 March 2026</a:t>
            </a:fld>
            <a:endParaRPr lang="en-IN"/>
          </a:p>
        </p:txBody>
      </p:sp>
      <p:sp>
        <p:nvSpPr>
          <p:cNvPr id="5" name="Footer Placeholder 4">
            <a:extLst>
              <a:ext uri="{FF2B5EF4-FFF2-40B4-BE49-F238E27FC236}">
                <a16:creationId xmlns:a16="http://schemas.microsoft.com/office/drawing/2014/main" id="{3810D6B4-4683-F18F-D3C7-E0564D362D3A}"/>
              </a:ext>
            </a:extLst>
          </p:cNvPr>
          <p:cNvSpPr>
            <a:spLocks noGrp="1"/>
          </p:cNvSpPr>
          <p:nvPr>
            <p:ph type="ftr" sz="quarter" idx="11"/>
          </p:nvPr>
        </p:nvSpPr>
        <p:spPr/>
        <p:txBody>
          <a:bodyPr/>
          <a:lstStyle/>
          <a:p>
            <a:r>
              <a:rPr lang="en-IN" smtClean="0"/>
              <a:t>Dept of CS&amp;BS,MCE,Hassan</a:t>
            </a:r>
            <a:endParaRPr lang="en-IN"/>
          </a:p>
        </p:txBody>
      </p:sp>
      <p:sp>
        <p:nvSpPr>
          <p:cNvPr id="6" name="Slide Number Placeholder 5">
            <a:extLst>
              <a:ext uri="{FF2B5EF4-FFF2-40B4-BE49-F238E27FC236}">
                <a16:creationId xmlns:a16="http://schemas.microsoft.com/office/drawing/2014/main" id="{CB808ADE-8C3B-9299-DC49-0A1D54B33DE4}"/>
              </a:ext>
            </a:extLst>
          </p:cNvPr>
          <p:cNvSpPr>
            <a:spLocks noGrp="1"/>
          </p:cNvSpPr>
          <p:nvPr>
            <p:ph type="sldNum" sz="quarter" idx="12"/>
          </p:nvPr>
        </p:nvSpPr>
        <p:spPr/>
        <p:txBody>
          <a:bodyPr/>
          <a:lstStyle/>
          <a:p>
            <a:fld id="{B473A766-B309-47EB-97F3-0F5A39AB9154}" type="slidenum">
              <a:rPr lang="en-IN" smtClean="0"/>
              <a:t>‹#›</a:t>
            </a:fld>
            <a:endParaRPr lang="en-IN"/>
          </a:p>
        </p:txBody>
      </p:sp>
    </p:spTree>
    <p:extLst>
      <p:ext uri="{BB962C8B-B14F-4D97-AF65-F5344CB8AC3E}">
        <p14:creationId xmlns:p14="http://schemas.microsoft.com/office/powerpoint/2010/main" val="4100178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00C47A-F9C6-6867-9C1A-A2FD5AEEFF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84005B-E974-7289-DECF-B71BC9BB4B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EC2255-0336-C5C6-187F-E6B96EDEA1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DDD34B-72AD-4D6C-A17E-653568755236}" type="datetime3">
              <a:rPr lang="en-IN" smtClean="0"/>
              <a:t>8 March 2026</a:t>
            </a:fld>
            <a:endParaRPr lang="en-IN"/>
          </a:p>
        </p:txBody>
      </p:sp>
      <p:sp>
        <p:nvSpPr>
          <p:cNvPr id="5" name="Footer Placeholder 4">
            <a:extLst>
              <a:ext uri="{FF2B5EF4-FFF2-40B4-BE49-F238E27FC236}">
                <a16:creationId xmlns:a16="http://schemas.microsoft.com/office/drawing/2014/main" id="{D8547E06-F15D-451C-A549-1617FEA360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Dept of CS&amp;BS,MCE,Hassan</a:t>
            </a:r>
            <a:endParaRPr lang="en-IN"/>
          </a:p>
        </p:txBody>
      </p:sp>
      <p:sp>
        <p:nvSpPr>
          <p:cNvPr id="6" name="Slide Number Placeholder 5">
            <a:extLst>
              <a:ext uri="{FF2B5EF4-FFF2-40B4-BE49-F238E27FC236}">
                <a16:creationId xmlns:a16="http://schemas.microsoft.com/office/drawing/2014/main" id="{D5B4B0C0-1F57-F525-EA79-DB9C89AA9F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3A766-B309-47EB-97F3-0F5A39AB9154}" type="slidenum">
              <a:rPr lang="en-IN" smtClean="0"/>
              <a:t>‹#›</a:t>
            </a:fld>
            <a:endParaRPr lang="en-IN"/>
          </a:p>
        </p:txBody>
      </p:sp>
    </p:spTree>
    <p:extLst>
      <p:ext uri="{BB962C8B-B14F-4D97-AF65-F5344CB8AC3E}">
        <p14:creationId xmlns:p14="http://schemas.microsoft.com/office/powerpoint/2010/main" val="2801391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8D90D-016A-6071-F2D0-3866618D89BC}"/>
              </a:ext>
            </a:extLst>
          </p:cNvPr>
          <p:cNvSpPr>
            <a:spLocks noGrp="1"/>
          </p:cNvSpPr>
          <p:nvPr>
            <p:ph type="ctrTitle"/>
          </p:nvPr>
        </p:nvSpPr>
        <p:spPr>
          <a:xfrm>
            <a:off x="81279" y="283357"/>
            <a:ext cx="12191999" cy="1143000"/>
          </a:xfrm>
        </p:spPr>
        <p:txBody>
          <a:bodyPr>
            <a:normAutofit/>
          </a:bodyPr>
          <a:lstStyle/>
          <a:p>
            <a:pPr algn="ctr"/>
            <a:r>
              <a:rPr lang="en-US" sz="3600" b="1" dirty="0">
                <a:solidFill>
                  <a:srgbClr val="FF0000"/>
                </a:solidFill>
                <a:latin typeface="Times New Roman" panose="02020603050405020304" pitchFamily="18" charset="0"/>
                <a:ea typeface="Calibri (MS)" panose="020F0502020204030204"/>
                <a:cs typeface="Times New Roman" panose="02020603050405020304" pitchFamily="18" charset="0"/>
                <a:sym typeface="Calibri (MS)" panose="020F0502020204030204"/>
              </a:rPr>
              <a:t>MALNAD COLLEGE OF ENGINEERING, HASSAN</a:t>
            </a:r>
            <a:br>
              <a:rPr lang="en-US" sz="3600" b="1" dirty="0">
                <a:solidFill>
                  <a:srgbClr val="FF0000"/>
                </a:solidFill>
                <a:latin typeface="Times New Roman" panose="02020603050405020304" pitchFamily="18" charset="0"/>
                <a:ea typeface="Calibri (MS)" panose="020F0502020204030204"/>
                <a:cs typeface="Times New Roman" panose="02020603050405020304" pitchFamily="18" charset="0"/>
                <a:sym typeface="Calibri (MS)" panose="020F0502020204030204"/>
              </a:rPr>
            </a:br>
            <a:endParaRPr lang="en-IN" sz="3600" b="1" dirty="0">
              <a:solidFill>
                <a:srgbClr val="FF0000"/>
              </a:solidFill>
            </a:endParaRPr>
          </a:p>
        </p:txBody>
      </p:sp>
      <p:sp>
        <p:nvSpPr>
          <p:cNvPr id="3" name="Subtitle 2">
            <a:extLst>
              <a:ext uri="{FF2B5EF4-FFF2-40B4-BE49-F238E27FC236}">
                <a16:creationId xmlns:a16="http://schemas.microsoft.com/office/drawing/2014/main" id="{D831E16E-3B77-C01E-64E5-323D7AC340AD}"/>
              </a:ext>
            </a:extLst>
          </p:cNvPr>
          <p:cNvSpPr>
            <a:spLocks noGrp="1"/>
          </p:cNvSpPr>
          <p:nvPr>
            <p:ph type="subTitle" idx="1"/>
          </p:nvPr>
        </p:nvSpPr>
        <p:spPr>
          <a:xfrm>
            <a:off x="-893380" y="4522152"/>
            <a:ext cx="12370676" cy="1742013"/>
          </a:xfrm>
        </p:spPr>
        <p:txBody>
          <a:bodyPr>
            <a:noAutofit/>
          </a:bodyPr>
          <a:lstStyle/>
          <a:p>
            <a:r>
              <a:rPr lang="en-IN" sz="2200" b="1" dirty="0" smtClean="0">
                <a:latin typeface="Times New Roman" panose="02020603050405020304" pitchFamily="18" charset="0"/>
                <a:cs typeface="Times New Roman" panose="02020603050405020304" pitchFamily="18" charset="0"/>
              </a:rPr>
              <a:t>	Presented By:		  				</a:t>
            </a:r>
            <a:r>
              <a:rPr lang="en-IN" sz="2000" b="1" dirty="0" smtClean="0">
                <a:latin typeface="Times New Roman" panose="02020603050405020304" pitchFamily="18" charset="0"/>
                <a:cs typeface="Times New Roman" panose="02020603050405020304" pitchFamily="18" charset="0"/>
              </a:rPr>
              <a:t>Under the guidance of</a:t>
            </a:r>
          </a:p>
          <a:p>
            <a:r>
              <a:rPr lang="en-IN" sz="2000" b="1" dirty="0" err="1" smtClean="0">
                <a:latin typeface="Times New Roman" panose="02020603050405020304" pitchFamily="18" charset="0"/>
                <a:cs typeface="Times New Roman" panose="02020603050405020304" pitchFamily="18" charset="0"/>
              </a:rPr>
              <a:t>Sinchana</a:t>
            </a:r>
            <a:r>
              <a:rPr lang="en-IN" sz="2000" b="1" dirty="0" smtClean="0">
                <a:latin typeface="Times New Roman" panose="02020603050405020304" pitchFamily="18" charset="0"/>
                <a:cs typeface="Times New Roman" panose="02020603050405020304" pitchFamily="18" charset="0"/>
              </a:rPr>
              <a:t> C M(4MC22CB023)				        </a:t>
            </a:r>
            <a:r>
              <a:rPr lang="en-IN" sz="2000" b="1" dirty="0" err="1" smtClean="0">
                <a:latin typeface="Times New Roman" panose="02020603050405020304" pitchFamily="18" charset="0"/>
                <a:cs typeface="Times New Roman" panose="02020603050405020304" pitchFamily="18" charset="0"/>
              </a:rPr>
              <a:t>Mrs.Bindu</a:t>
            </a:r>
            <a:r>
              <a:rPr lang="en-IN" sz="2000" b="1" dirty="0" smtClean="0">
                <a:latin typeface="Times New Roman" panose="02020603050405020304" pitchFamily="18" charset="0"/>
                <a:cs typeface="Times New Roman" panose="02020603050405020304" pitchFamily="18" charset="0"/>
              </a:rPr>
              <a:t> H G</a:t>
            </a:r>
          </a:p>
          <a:p>
            <a:r>
              <a:rPr lang="en-IN" sz="2000" b="1" dirty="0">
                <a:latin typeface="Times New Roman" panose="02020603050405020304" pitchFamily="18" charset="0"/>
                <a:cs typeface="Times New Roman" panose="02020603050405020304" pitchFamily="18" charset="0"/>
              </a:rPr>
              <a:t>	</a:t>
            </a:r>
            <a:r>
              <a:rPr lang="en-IN" sz="2000" b="1" dirty="0" smtClean="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	</a:t>
            </a:r>
            <a:r>
              <a:rPr lang="en-IN" sz="2000" b="1" dirty="0" smtClean="0">
                <a:latin typeface="Times New Roman" panose="02020603050405020304" pitchFamily="18" charset="0"/>
                <a:cs typeface="Times New Roman" panose="02020603050405020304" pitchFamily="18" charset="0"/>
              </a:rPr>
              <a:t>				</a:t>
            </a:r>
            <a:r>
              <a:rPr lang="en-IN" sz="2000" b="1" dirty="0" smtClean="0">
                <a:latin typeface="Times New Roman" panose="02020603050405020304" pitchFamily="18" charset="0"/>
                <a:cs typeface="Times New Roman" panose="02020603050405020304" pitchFamily="18" charset="0"/>
              </a:rPr>
              <a:t>Assistant </a:t>
            </a:r>
            <a:r>
              <a:rPr lang="en-IN" sz="2000" b="1" dirty="0" smtClean="0">
                <a:latin typeface="Times New Roman" panose="02020603050405020304" pitchFamily="18" charset="0"/>
                <a:cs typeface="Times New Roman" panose="02020603050405020304" pitchFamily="18" charset="0"/>
              </a:rPr>
              <a:t>Professor									          	          </a:t>
            </a:r>
            <a:r>
              <a:rPr lang="en-GB" sz="2000" b="1" dirty="0" smtClean="0">
                <a:latin typeface="Times New Roman" panose="02020603050405020304" pitchFamily="18" charset="0"/>
                <a:cs typeface="Times New Roman" panose="02020603050405020304" pitchFamily="18" charset="0"/>
              </a:rPr>
              <a:t>Dept. of </a:t>
            </a:r>
            <a:r>
              <a:rPr lang="en-GB" sz="2000" b="1" dirty="0" err="1" smtClean="0">
                <a:latin typeface="Times New Roman" panose="02020603050405020304" pitchFamily="18" charset="0"/>
                <a:cs typeface="Times New Roman" panose="02020603050405020304" pitchFamily="18" charset="0"/>
              </a:rPr>
              <a:t>CS&amp;BS,MCE,Hassan</a:t>
            </a:r>
            <a:r>
              <a:rPr lang="en-GB" sz="2200" b="1" dirty="0" smtClean="0">
                <a:latin typeface="Times New Roman" panose="02020603050405020304" pitchFamily="18" charset="0"/>
                <a:cs typeface="Times New Roman" panose="02020603050405020304" pitchFamily="18" charset="0"/>
              </a:rPr>
              <a:t>					</a:t>
            </a:r>
            <a:r>
              <a:rPr lang="en-GB" sz="2200" b="1" dirty="0">
                <a:latin typeface="Times New Roman" panose="02020603050405020304" pitchFamily="18" charset="0"/>
                <a:cs typeface="Times New Roman" panose="02020603050405020304" pitchFamily="18" charset="0"/>
              </a:rPr>
              <a:t>	</a:t>
            </a:r>
            <a:endParaRPr lang="en-IN" sz="2200" b="1" dirty="0" smtClean="0">
              <a:latin typeface="Times New Roman" panose="02020603050405020304" pitchFamily="18" charset="0"/>
              <a:cs typeface="Times New Roman" panose="02020603050405020304" pitchFamily="18" charset="0"/>
            </a:endParaRPr>
          </a:p>
        </p:txBody>
      </p:sp>
      <p:sp>
        <p:nvSpPr>
          <p:cNvPr id="4" name="Freeform 17">
            <a:extLst>
              <a:ext uri="{FF2B5EF4-FFF2-40B4-BE49-F238E27FC236}">
                <a16:creationId xmlns:a16="http://schemas.microsoft.com/office/drawing/2014/main" id="{66C63F74-1C0E-B44C-593C-B8EC6F14E858}"/>
              </a:ext>
            </a:extLst>
          </p:cNvPr>
          <p:cNvSpPr/>
          <p:nvPr/>
        </p:nvSpPr>
        <p:spPr>
          <a:xfrm>
            <a:off x="5390940" y="2095130"/>
            <a:ext cx="1572679" cy="1418308"/>
          </a:xfrm>
          <a:custGeom>
            <a:avLst/>
            <a:gdLst/>
            <a:ahLst/>
            <a:cxnLst/>
            <a:rect l="l" t="t" r="r" b="b"/>
            <a:pathLst>
              <a:path w="1572679" h="1707480">
                <a:moveTo>
                  <a:pt x="0" y="0"/>
                </a:moveTo>
                <a:lnTo>
                  <a:pt x="1572679" y="0"/>
                </a:lnTo>
                <a:lnTo>
                  <a:pt x="1572679" y="1707480"/>
                </a:lnTo>
                <a:lnTo>
                  <a:pt x="0" y="1707480"/>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6" name="TextBox 5">
            <a:extLst>
              <a:ext uri="{FF2B5EF4-FFF2-40B4-BE49-F238E27FC236}">
                <a16:creationId xmlns:a16="http://schemas.microsoft.com/office/drawing/2014/main" id="{F2441A20-FD7C-53D2-2353-7ECC47779629}"/>
              </a:ext>
            </a:extLst>
          </p:cNvPr>
          <p:cNvSpPr txBox="1"/>
          <p:nvPr/>
        </p:nvSpPr>
        <p:spPr>
          <a:xfrm>
            <a:off x="81280" y="3479906"/>
            <a:ext cx="12192000" cy="520335"/>
          </a:xfrm>
          <a:prstGeom prst="rect">
            <a:avLst/>
          </a:prstGeom>
          <a:noFill/>
        </p:spPr>
        <p:txBody>
          <a:bodyPr wrap="square">
            <a:spAutoFit/>
          </a:bodyPr>
          <a:lstStyle/>
          <a:p>
            <a:pPr algn="ctr">
              <a:lnSpc>
                <a:spcPts val="3705"/>
              </a:lnSpc>
              <a:spcBef>
                <a:spcPct val="0"/>
              </a:spcBef>
            </a:pPr>
            <a:r>
              <a:rPr lang="en-US" sz="2400" b="1" dirty="0" smtClean="0">
                <a:solidFill>
                  <a:srgbClr val="FF0000"/>
                </a:solidFill>
                <a:latin typeface="Times New Roman" panose="02020603050405020304" pitchFamily="18" charset="0"/>
                <a:ea typeface="Calibri (MS)" panose="020F0502020204030204"/>
                <a:cs typeface="Times New Roman" panose="02020603050405020304" pitchFamily="18" charset="0"/>
                <a:sym typeface="Calibri (MS)" panose="020F0502020204030204"/>
              </a:rPr>
              <a:t>INTERNSHIP PHASE-1</a:t>
            </a:r>
            <a:endParaRPr lang="en-US" sz="2400" b="1" dirty="0">
              <a:solidFill>
                <a:srgbClr val="FF0000"/>
              </a:solidFill>
              <a:latin typeface="Times New Roman" panose="02020603050405020304" pitchFamily="18" charset="0"/>
              <a:ea typeface="Calibri (MS)" panose="020F0502020204030204"/>
              <a:cs typeface="Times New Roman" panose="02020603050405020304" pitchFamily="18" charset="0"/>
              <a:sym typeface="Calibri (MS)" panose="020F0502020204030204"/>
            </a:endParaRPr>
          </a:p>
        </p:txBody>
      </p:sp>
      <p:sp>
        <p:nvSpPr>
          <p:cNvPr id="12" name="TextBox 11">
            <a:extLst>
              <a:ext uri="{FF2B5EF4-FFF2-40B4-BE49-F238E27FC236}">
                <a16:creationId xmlns:a16="http://schemas.microsoft.com/office/drawing/2014/main" id="{8CC67C46-66F2-49C8-E5AE-BA0AB6DFB726}"/>
              </a:ext>
            </a:extLst>
          </p:cNvPr>
          <p:cNvSpPr txBox="1"/>
          <p:nvPr/>
        </p:nvSpPr>
        <p:spPr>
          <a:xfrm>
            <a:off x="0" y="608592"/>
            <a:ext cx="12192000" cy="1015663"/>
          </a:xfrm>
          <a:prstGeom prst="rect">
            <a:avLst/>
          </a:prstGeom>
          <a:noFill/>
        </p:spPr>
        <p:txBody>
          <a:bodyPr wrap="square">
            <a:spAutoFit/>
          </a:bodyPr>
          <a:lstStyle/>
          <a:p>
            <a:pPr algn="ctr"/>
            <a:endParaRPr lang="en-IN" sz="2000" dirty="0" smtClean="0">
              <a:latin typeface="Times New Roman" panose="02020603050405020304" pitchFamily="18" charset="0"/>
              <a:cs typeface="Times New Roman" panose="02020603050405020304" pitchFamily="18" charset="0"/>
            </a:endParaRPr>
          </a:p>
          <a:p>
            <a:pPr algn="ctr"/>
            <a:r>
              <a:rPr lang="en-IN" sz="2000" dirty="0" smtClean="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An Autonomous Institution  under  Visvesvaraya Technological University, Belagavi)                                          Hassan – 573202, Karnataka, India</a:t>
            </a:r>
          </a:p>
        </p:txBody>
      </p:sp>
      <p:sp>
        <p:nvSpPr>
          <p:cNvPr id="14" name="TextBox 13">
            <a:extLst>
              <a:ext uri="{FF2B5EF4-FFF2-40B4-BE49-F238E27FC236}">
                <a16:creationId xmlns:a16="http://schemas.microsoft.com/office/drawing/2014/main" id="{AC48C7D0-C963-0CFB-2F9F-E1EC09C482C0}"/>
              </a:ext>
            </a:extLst>
          </p:cNvPr>
          <p:cNvSpPr txBox="1"/>
          <p:nvPr/>
        </p:nvSpPr>
        <p:spPr>
          <a:xfrm>
            <a:off x="81280" y="1575985"/>
            <a:ext cx="12192000"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Department of Computer Science and Business Systems</a:t>
            </a:r>
          </a:p>
        </p:txBody>
      </p:sp>
      <p:sp>
        <p:nvSpPr>
          <p:cNvPr id="10" name="Date Placeholder 9"/>
          <p:cNvSpPr>
            <a:spLocks noGrp="1"/>
          </p:cNvSpPr>
          <p:nvPr>
            <p:ph type="dt" sz="half" idx="10"/>
          </p:nvPr>
        </p:nvSpPr>
        <p:spPr/>
        <p:txBody>
          <a:bodyPr/>
          <a:lstStyle/>
          <a:p>
            <a:fld id="{CEB6BD21-BFD2-482D-A853-68935F66EFED}" type="datetime3">
              <a:rPr lang="en-IN" smtClean="0"/>
              <a:t>8 March 2026</a:t>
            </a:fld>
            <a:endParaRPr lang="en-IN" dirty="0"/>
          </a:p>
        </p:txBody>
      </p:sp>
      <p:sp>
        <p:nvSpPr>
          <p:cNvPr id="11" name="Footer Placeholder 10"/>
          <p:cNvSpPr>
            <a:spLocks noGrp="1"/>
          </p:cNvSpPr>
          <p:nvPr>
            <p:ph type="ftr" sz="quarter" idx="11"/>
          </p:nvPr>
        </p:nvSpPr>
        <p:spPr/>
        <p:txBody>
          <a:bodyPr/>
          <a:lstStyle/>
          <a:p>
            <a:r>
              <a:rPr lang="en-IN" dirty="0" err="1" smtClean="0"/>
              <a:t>Dept</a:t>
            </a:r>
            <a:r>
              <a:rPr lang="en-IN" dirty="0" smtClean="0"/>
              <a:t> of </a:t>
            </a:r>
            <a:r>
              <a:rPr lang="en-IN" dirty="0" err="1" smtClean="0"/>
              <a:t>CS&amp;BS,MCE,Hassan</a:t>
            </a:r>
            <a:endParaRPr lang="en-IN" dirty="0"/>
          </a:p>
        </p:txBody>
      </p:sp>
      <p:sp>
        <p:nvSpPr>
          <p:cNvPr id="5" name="Slide Number Placeholder 4"/>
          <p:cNvSpPr>
            <a:spLocks noGrp="1"/>
          </p:cNvSpPr>
          <p:nvPr>
            <p:ph type="sldNum" sz="quarter" idx="12"/>
          </p:nvPr>
        </p:nvSpPr>
        <p:spPr/>
        <p:txBody>
          <a:bodyPr/>
          <a:lstStyle/>
          <a:p>
            <a:fld id="{B473A766-B309-47EB-97F3-0F5A39AB9154}" type="slidenum">
              <a:rPr lang="en-IN" smtClean="0"/>
              <a:t>1</a:t>
            </a:fld>
            <a:endParaRPr lang="en-IN"/>
          </a:p>
        </p:txBody>
      </p:sp>
    </p:spTree>
    <p:extLst>
      <p:ext uri="{BB962C8B-B14F-4D97-AF65-F5344CB8AC3E}">
        <p14:creationId xmlns:p14="http://schemas.microsoft.com/office/powerpoint/2010/main" val="16822021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 y="199391"/>
            <a:ext cx="2915920" cy="615632"/>
          </a:xfrm>
        </p:spPr>
        <p:txBody>
          <a:bodyPr>
            <a:normAutofit/>
          </a:bodyPr>
          <a:lstStyle/>
          <a:p>
            <a:r>
              <a:rPr lang="en-GB" sz="3200" b="1" dirty="0" smtClean="0">
                <a:solidFill>
                  <a:srgbClr val="FF0000"/>
                </a:solidFill>
                <a:latin typeface="Times New Roman" panose="02020603050405020304" pitchFamily="18" charset="0"/>
                <a:cs typeface="Times New Roman" panose="02020603050405020304" pitchFamily="18" charset="0"/>
              </a:rPr>
              <a:t>CONTENTS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50345" y="621348"/>
            <a:ext cx="11003455" cy="5379402"/>
          </a:xfrm>
        </p:spPr>
        <p:txBody>
          <a:bodyPr>
            <a:normAutofit/>
          </a:bodyPr>
          <a:lstStyle/>
          <a:p>
            <a:pPr algn="l"/>
            <a:endParaRPr lang="en-GB" sz="1800" dirty="0" smtClean="0">
              <a:latin typeface="Times New Roman" panose="02020603050405020304" pitchFamily="18" charset="0"/>
              <a:cs typeface="Times New Roman" panose="02020603050405020304" pitchFamily="18" charset="0"/>
            </a:endParaRPr>
          </a:p>
          <a:p>
            <a:pPr algn="l">
              <a:lnSpc>
                <a:spcPct val="150000"/>
              </a:lnSpc>
            </a:pPr>
            <a:r>
              <a:rPr lang="en-GB" sz="1800" dirty="0" smtClean="0">
                <a:latin typeface="Times New Roman" panose="02020603050405020304" pitchFamily="18" charset="0"/>
                <a:cs typeface="Times New Roman" panose="02020603050405020304" pitchFamily="18" charset="0"/>
              </a:rPr>
              <a:t> </a:t>
            </a:r>
            <a:r>
              <a:rPr lang="en-GB" sz="1800" dirty="0" smtClean="0">
                <a:latin typeface="Times New Roman" panose="02020603050405020304" pitchFamily="18" charset="0"/>
                <a:cs typeface="Times New Roman" panose="02020603050405020304" pitchFamily="18" charset="0"/>
              </a:rPr>
              <a:t>1.COMPANY  </a:t>
            </a:r>
            <a:r>
              <a:rPr lang="en-GB" sz="1800" dirty="0">
                <a:latin typeface="Times New Roman" panose="02020603050405020304" pitchFamily="18" charset="0"/>
                <a:cs typeface="Times New Roman" panose="02020603050405020304" pitchFamily="18" charset="0"/>
              </a:rPr>
              <a:t>DETAILS</a:t>
            </a:r>
          </a:p>
          <a:p>
            <a:pPr algn="l">
              <a:lnSpc>
                <a:spcPct val="150000"/>
              </a:lnSpc>
            </a:pPr>
            <a:r>
              <a:rPr lang="en-GB" sz="1800" dirty="0" smtClean="0">
                <a:latin typeface="Times New Roman" panose="02020603050405020304" pitchFamily="18" charset="0"/>
                <a:cs typeface="Times New Roman" panose="02020603050405020304" pitchFamily="18" charset="0"/>
              </a:rPr>
              <a:t> </a:t>
            </a:r>
            <a:r>
              <a:rPr lang="en-GB" sz="1800" dirty="0" smtClean="0">
                <a:latin typeface="Times New Roman" panose="02020603050405020304" pitchFamily="18" charset="0"/>
                <a:cs typeface="Times New Roman" panose="02020603050405020304" pitchFamily="18" charset="0"/>
              </a:rPr>
              <a:t>2.DOMAIN </a:t>
            </a:r>
            <a:r>
              <a:rPr lang="en-GB" sz="1800" dirty="0" smtClean="0">
                <a:latin typeface="Times New Roman" panose="02020603050405020304" pitchFamily="18" charset="0"/>
                <a:cs typeface="Times New Roman" panose="02020603050405020304" pitchFamily="18" charset="0"/>
              </a:rPr>
              <a:t>OF WORK</a:t>
            </a:r>
          </a:p>
          <a:p>
            <a:pPr algn="l">
              <a:lnSpc>
                <a:spcPct val="150000"/>
              </a:lnSpc>
            </a:pPr>
            <a:r>
              <a:rPr lang="en-GB" sz="180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3</a:t>
            </a:r>
            <a:r>
              <a:rPr lang="en-GB" sz="1800" dirty="0" smtClean="0">
                <a:latin typeface="Times New Roman" panose="02020603050405020304" pitchFamily="18" charset="0"/>
                <a:cs typeface="Times New Roman" panose="02020603050405020304" pitchFamily="18" charset="0"/>
              </a:rPr>
              <a:t>.INTERNSHIP </a:t>
            </a:r>
            <a:r>
              <a:rPr lang="en-GB" sz="1800" dirty="0" smtClean="0">
                <a:latin typeface="Times New Roman" panose="02020603050405020304" pitchFamily="18" charset="0"/>
                <a:cs typeface="Times New Roman" panose="02020603050405020304" pitchFamily="18" charset="0"/>
              </a:rPr>
              <a:t>OBJECTIVES</a:t>
            </a:r>
          </a:p>
          <a:p>
            <a:pPr algn="l">
              <a:lnSpc>
                <a:spcPct val="150000"/>
              </a:lnSpc>
            </a:pPr>
            <a:r>
              <a:rPr lang="en-GB" sz="1800" dirty="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4</a:t>
            </a:r>
            <a:r>
              <a:rPr lang="en-GB" sz="1800" dirty="0" smtClean="0">
                <a:latin typeface="Times New Roman" panose="02020603050405020304" pitchFamily="18" charset="0"/>
                <a:cs typeface="Times New Roman" panose="02020603050405020304" pitchFamily="18" charset="0"/>
              </a:rPr>
              <a:t>.TASK </a:t>
            </a:r>
            <a:r>
              <a:rPr lang="en-GB" sz="1800" dirty="0" smtClean="0">
                <a:latin typeface="Times New Roman" panose="02020603050405020304" pitchFamily="18" charset="0"/>
                <a:cs typeface="Times New Roman" panose="02020603050405020304" pitchFamily="18" charset="0"/>
              </a:rPr>
              <a:t>ASSIGNED DURING THE INTERNSHIP</a:t>
            </a:r>
          </a:p>
          <a:p>
            <a:pPr algn="l">
              <a:lnSpc>
                <a:spcPct val="150000"/>
              </a:lnSpc>
            </a:pPr>
            <a:r>
              <a:rPr lang="en-GB" sz="1800" dirty="0" smtClean="0">
                <a:latin typeface="Times New Roman" panose="02020603050405020304" pitchFamily="18" charset="0"/>
                <a:cs typeface="Times New Roman" panose="02020603050405020304" pitchFamily="18" charset="0"/>
              </a:rPr>
              <a:t> </a:t>
            </a:r>
            <a:r>
              <a:rPr lang="en-GB" sz="1800" dirty="0" smtClean="0">
                <a:latin typeface="Times New Roman" panose="02020603050405020304" pitchFamily="18" charset="0"/>
                <a:cs typeface="Times New Roman" panose="02020603050405020304" pitchFamily="18" charset="0"/>
              </a:rPr>
              <a:t>5.TECHNICAL </a:t>
            </a:r>
            <a:r>
              <a:rPr lang="en-GB" sz="1800" dirty="0">
                <a:latin typeface="Times New Roman" panose="02020603050405020304" pitchFamily="18" charset="0"/>
                <a:cs typeface="Times New Roman" panose="02020603050405020304" pitchFamily="18" charset="0"/>
              </a:rPr>
              <a:t>KNOWLEDGE GAINED/SKILLS </a:t>
            </a:r>
            <a:r>
              <a:rPr lang="en-GB" sz="1800" dirty="0" smtClean="0">
                <a:latin typeface="Times New Roman" panose="02020603050405020304" pitchFamily="18" charset="0"/>
                <a:cs typeface="Times New Roman" panose="02020603050405020304" pitchFamily="18" charset="0"/>
              </a:rPr>
              <a:t>DEVELOPED </a:t>
            </a:r>
            <a:r>
              <a:rPr lang="en-GB" sz="1800" dirty="0">
                <a:latin typeface="Times New Roman" panose="02020603050405020304" pitchFamily="18" charset="0"/>
                <a:cs typeface="Times New Roman" panose="02020603050405020304" pitchFamily="18" charset="0"/>
              </a:rPr>
              <a:t>DURING THE </a:t>
            </a:r>
            <a:r>
              <a:rPr lang="en-GB" sz="1800" dirty="0" smtClean="0">
                <a:latin typeface="Times New Roman" panose="02020603050405020304" pitchFamily="18" charset="0"/>
                <a:cs typeface="Times New Roman" panose="02020603050405020304" pitchFamily="18" charset="0"/>
              </a:rPr>
              <a:t>INTERNSHIP</a:t>
            </a:r>
          </a:p>
          <a:p>
            <a:pPr algn="l">
              <a:lnSpc>
                <a:spcPct val="150000"/>
              </a:lnSpc>
            </a:pPr>
            <a:r>
              <a:rPr lang="en-GB" sz="1800" dirty="0" smtClean="0">
                <a:latin typeface="Times New Roman" panose="02020603050405020304" pitchFamily="18" charset="0"/>
                <a:cs typeface="Times New Roman" panose="02020603050405020304" pitchFamily="18" charset="0"/>
              </a:rPr>
              <a:t> </a:t>
            </a:r>
            <a:r>
              <a:rPr lang="en-GB" sz="1800" dirty="0" smtClean="0">
                <a:latin typeface="Times New Roman" panose="02020603050405020304" pitchFamily="18" charset="0"/>
                <a:cs typeface="Times New Roman" panose="02020603050405020304" pitchFamily="18" charset="0"/>
              </a:rPr>
              <a:t>6.TOOLS,TECHNOLOGIES </a:t>
            </a:r>
            <a:r>
              <a:rPr lang="en-GB" sz="1800" dirty="0">
                <a:latin typeface="Times New Roman" panose="02020603050405020304" pitchFamily="18" charset="0"/>
                <a:cs typeface="Times New Roman" panose="02020603050405020304" pitchFamily="18" charset="0"/>
              </a:rPr>
              <a:t>OR PLATFORM </a:t>
            </a:r>
            <a:r>
              <a:rPr lang="en-GB" sz="1800" dirty="0" smtClean="0">
                <a:latin typeface="Times New Roman" panose="02020603050405020304" pitchFamily="18" charset="0"/>
                <a:cs typeface="Times New Roman" panose="02020603050405020304" pitchFamily="18" charset="0"/>
              </a:rPr>
              <a:t>USED</a:t>
            </a:r>
          </a:p>
          <a:p>
            <a:pPr algn="l">
              <a:lnSpc>
                <a:spcPct val="150000"/>
              </a:lnSpc>
            </a:pPr>
            <a:r>
              <a:rPr lang="en-GB" sz="1800" b="1" dirty="0" smtClean="0">
                <a:solidFill>
                  <a:srgbClr val="FF0000"/>
                </a:solidFill>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7</a:t>
            </a:r>
            <a:r>
              <a:rPr lang="en-GB" sz="1800" dirty="0" smtClean="0">
                <a:latin typeface="Times New Roman" panose="02020603050405020304" pitchFamily="18" charset="0"/>
                <a:cs typeface="Times New Roman" panose="02020603050405020304" pitchFamily="18" charset="0"/>
              </a:rPr>
              <a:t>.OUTCOMES </a:t>
            </a:r>
            <a:r>
              <a:rPr lang="en-GB" sz="1800" dirty="0">
                <a:latin typeface="Times New Roman" panose="02020603050405020304" pitchFamily="18" charset="0"/>
                <a:cs typeface="Times New Roman" panose="02020603050405020304" pitchFamily="18" charset="0"/>
              </a:rPr>
              <a:t>AND LEARNING </a:t>
            </a:r>
            <a:r>
              <a:rPr lang="en-GB" sz="1800" dirty="0" smtClean="0">
                <a:latin typeface="Times New Roman" panose="02020603050405020304" pitchFamily="18" charset="0"/>
                <a:cs typeface="Times New Roman" panose="02020603050405020304" pitchFamily="18" charset="0"/>
              </a:rPr>
              <a:t>EXPERIENCE</a:t>
            </a:r>
          </a:p>
          <a:p>
            <a:pPr algn="l">
              <a:lnSpc>
                <a:spcPct val="150000"/>
              </a:lnSpc>
            </a:pPr>
            <a:r>
              <a:rPr lang="en-GB" sz="1800" dirty="0" smtClean="0">
                <a:latin typeface="Times New Roman" panose="02020603050405020304" pitchFamily="18" charset="0"/>
                <a:cs typeface="Times New Roman" panose="02020603050405020304" pitchFamily="18" charset="0"/>
              </a:rPr>
              <a:t> </a:t>
            </a:r>
            <a:r>
              <a:rPr lang="en-GB" sz="1800" dirty="0">
                <a:latin typeface="Times New Roman" panose="02020603050405020304" pitchFamily="18" charset="0"/>
                <a:cs typeface="Times New Roman" panose="02020603050405020304" pitchFamily="18" charset="0"/>
              </a:rPr>
              <a:t>8</a:t>
            </a:r>
            <a:r>
              <a:rPr lang="en-GB" sz="1800" dirty="0" smtClean="0">
                <a:latin typeface="Times New Roman" panose="02020603050405020304" pitchFamily="18" charset="0"/>
                <a:cs typeface="Times New Roman" panose="02020603050405020304" pitchFamily="18" charset="0"/>
              </a:rPr>
              <a:t>.CONCLUSION</a:t>
            </a:r>
            <a:r>
              <a:rPr lang="en-GB"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C188085-812C-49A5-A063-9C74A29EDEC4}"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Slide Number Placeholder 5"/>
          <p:cNvSpPr>
            <a:spLocks noGrp="1"/>
          </p:cNvSpPr>
          <p:nvPr>
            <p:ph type="sldNum" sz="quarter" idx="12"/>
          </p:nvPr>
        </p:nvSpPr>
        <p:spPr/>
        <p:txBody>
          <a:bodyPr/>
          <a:lstStyle/>
          <a:p>
            <a:fld id="{B473A766-B309-47EB-97F3-0F5A39AB9154}" type="slidenum">
              <a:rPr lang="en-IN" smtClean="0"/>
              <a:t>2</a:t>
            </a:fld>
            <a:endParaRPr lang="en-IN"/>
          </a:p>
        </p:txBody>
      </p:sp>
    </p:spTree>
    <p:extLst>
      <p:ext uri="{BB962C8B-B14F-4D97-AF65-F5344CB8AC3E}">
        <p14:creationId xmlns:p14="http://schemas.microsoft.com/office/powerpoint/2010/main" val="41738450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1BF814-99B8-009A-ADFC-BCF660944A2F}"/>
              </a:ext>
            </a:extLst>
          </p:cNvPr>
          <p:cNvSpPr>
            <a:spLocks noGrp="1"/>
          </p:cNvSpPr>
          <p:nvPr>
            <p:ph type="subTitle" idx="1"/>
          </p:nvPr>
        </p:nvSpPr>
        <p:spPr>
          <a:xfrm>
            <a:off x="248920" y="0"/>
            <a:ext cx="11694160" cy="6112510"/>
          </a:xfrm>
        </p:spPr>
        <p:txBody>
          <a:bodyPr>
            <a:normAutofit/>
          </a:bodyPr>
          <a:lstStyle/>
          <a:p>
            <a:pPr algn="just">
              <a:lnSpc>
                <a:spcPct val="150000"/>
              </a:lnSpc>
            </a:pPr>
            <a:r>
              <a:rPr lang="en-US" sz="3200" b="1" dirty="0" smtClean="0">
                <a:solidFill>
                  <a:srgbClr val="FF0000"/>
                </a:solidFill>
                <a:latin typeface="Times New Roman" panose="02020603050405020304" pitchFamily="18" charset="0"/>
                <a:cs typeface="Times New Roman" panose="02020603050405020304" pitchFamily="18" charset="0"/>
              </a:rPr>
              <a:t>COMPANY </a:t>
            </a:r>
            <a:r>
              <a:rPr lang="en-US" sz="3200" b="1" dirty="0" smtClean="0">
                <a:solidFill>
                  <a:srgbClr val="FF0000"/>
                </a:solidFill>
                <a:latin typeface="Times New Roman" panose="02020603050405020304" pitchFamily="18" charset="0"/>
                <a:cs typeface="Times New Roman" panose="02020603050405020304" pitchFamily="18" charset="0"/>
              </a:rPr>
              <a:t>DETAILS</a:t>
            </a:r>
            <a:endParaRPr lang="en-US" sz="3200" b="1" dirty="0" smtClean="0">
              <a:solidFill>
                <a:srgbClr val="FF0000"/>
              </a:solidFill>
              <a:latin typeface="Times New Roman" panose="02020603050405020304" pitchFamily="18" charset="0"/>
              <a:cs typeface="Times New Roman" panose="02020603050405020304" pitchFamily="18" charset="0"/>
            </a:endParaRPr>
          </a:p>
          <a:p>
            <a:pPr algn="just">
              <a:lnSpc>
                <a:spcPct val="150000"/>
              </a:lnSpc>
            </a:pPr>
            <a:r>
              <a:rPr lang="en-US" b="1" dirty="0" smtClean="0">
                <a:latin typeface="Times New Roman" panose="02020603050405020304" pitchFamily="18" charset="0"/>
                <a:cs typeface="Times New Roman" panose="02020603050405020304" pitchFamily="18" charset="0"/>
              </a:rPr>
              <a:t>Company Name: </a:t>
            </a:r>
            <a:r>
              <a:rPr lang="en-US" dirty="0" err="1">
                <a:latin typeface="Times New Roman" panose="02020603050405020304" pitchFamily="18" charset="0"/>
                <a:cs typeface="Times New Roman" panose="02020603050405020304" pitchFamily="18" charset="0"/>
              </a:rPr>
              <a:t>KaroStartup</a:t>
            </a:r>
            <a:r>
              <a:rPr lang="en-US" dirty="0">
                <a:latin typeface="Times New Roman" panose="02020603050405020304" pitchFamily="18" charset="0"/>
                <a:cs typeface="Times New Roman" panose="02020603050405020304" pitchFamily="18" charset="0"/>
              </a:rPr>
              <a:t> Technology India </a:t>
            </a:r>
            <a:r>
              <a:rPr lang="en-US" dirty="0" err="1">
                <a:latin typeface="Times New Roman" panose="02020603050405020304" pitchFamily="18" charset="0"/>
                <a:cs typeface="Times New Roman" panose="02020603050405020304" pitchFamily="18" charset="0"/>
              </a:rPr>
              <a:t>Pvt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Ltd</a:t>
            </a:r>
            <a:endParaRPr lang="en-IN" dirty="0" smtClean="0">
              <a:latin typeface="Times New Roman" panose="02020603050405020304" pitchFamily="18" charset="0"/>
              <a:cs typeface="Times New Roman" panose="02020603050405020304" pitchFamily="18" charset="0"/>
            </a:endParaRPr>
          </a:p>
          <a:p>
            <a:pPr algn="just">
              <a:lnSpc>
                <a:spcPct val="150000"/>
              </a:lnSpc>
            </a:pPr>
            <a:r>
              <a:rPr lang="en-US" b="1" dirty="0" smtClean="0">
                <a:latin typeface="Times New Roman" panose="02020603050405020304" pitchFamily="18" charset="0"/>
                <a:cs typeface="Times New Roman" panose="02020603050405020304" pitchFamily="18" charset="0"/>
              </a:rPr>
              <a:t>Internship Location: </a:t>
            </a:r>
            <a:r>
              <a:rPr lang="en-US" dirty="0" err="1">
                <a:latin typeface="Times New Roman" panose="02020603050405020304" pitchFamily="18" charset="0"/>
                <a:cs typeface="Times New Roman" panose="02020603050405020304" pitchFamily="18" charset="0"/>
              </a:rPr>
              <a:t>KaroStartup</a:t>
            </a:r>
            <a:r>
              <a:rPr lang="en-US" dirty="0">
                <a:latin typeface="Times New Roman" panose="02020603050405020304" pitchFamily="18" charset="0"/>
                <a:cs typeface="Times New Roman" panose="02020603050405020304" pitchFamily="18" charset="0"/>
              </a:rPr>
              <a:t> Technology India </a:t>
            </a:r>
            <a:r>
              <a:rPr lang="en-US" dirty="0" err="1">
                <a:latin typeface="Times New Roman" panose="02020603050405020304" pitchFamily="18" charset="0"/>
                <a:cs typeface="Times New Roman" panose="02020603050405020304" pitchFamily="18" charset="0"/>
              </a:rPr>
              <a:t>Pvt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Ltd,</a:t>
            </a:r>
            <a:r>
              <a:rPr lang="en-IN" dirty="0" smtClean="0">
                <a:latin typeface="Times New Roman" panose="02020603050405020304" pitchFamily="18" charset="0"/>
                <a:cs typeface="Times New Roman" panose="02020603050405020304" pitchFamily="18" charset="0"/>
              </a:rPr>
              <a:t>NX </a:t>
            </a:r>
            <a:r>
              <a:rPr lang="en-IN" dirty="0">
                <a:latin typeface="Times New Roman" panose="02020603050405020304" pitchFamily="18" charset="0"/>
                <a:cs typeface="Times New Roman" panose="02020603050405020304" pitchFamily="18" charset="0"/>
              </a:rPr>
              <a:t>- ONE ,Gaur </a:t>
            </a:r>
            <a:r>
              <a:rPr lang="en-IN" dirty="0" err="1">
                <a:latin typeface="Times New Roman" panose="02020603050405020304" pitchFamily="18" charset="0"/>
                <a:cs typeface="Times New Roman" panose="02020603050405020304" pitchFamily="18" charset="0"/>
              </a:rPr>
              <a:t>Chowk</a:t>
            </a:r>
            <a:r>
              <a:rPr lang="en-IN" dirty="0">
                <a:latin typeface="Times New Roman" panose="02020603050405020304" pitchFamily="18" charset="0"/>
                <a:cs typeface="Times New Roman" panose="02020603050405020304" pitchFamily="18" charset="0"/>
              </a:rPr>
              <a:t>, Plot No. 17, Tech Zone IV, </a:t>
            </a:r>
            <a:r>
              <a:rPr lang="en-IN" dirty="0" err="1">
                <a:latin typeface="Times New Roman" panose="02020603050405020304" pitchFamily="18" charset="0"/>
                <a:cs typeface="Times New Roman" panose="02020603050405020304" pitchFamily="18" charset="0"/>
              </a:rPr>
              <a:t>Amrapali</a:t>
            </a:r>
            <a:r>
              <a:rPr lang="en-IN" dirty="0">
                <a:latin typeface="Times New Roman" panose="02020603050405020304" pitchFamily="18" charset="0"/>
                <a:cs typeface="Times New Roman" panose="02020603050405020304" pitchFamily="18" charset="0"/>
              </a:rPr>
              <a:t> Dream Valley, Greater Noida, Uttar Pradesh </a:t>
            </a:r>
            <a:r>
              <a:rPr lang="en-IN" dirty="0" smtClean="0">
                <a:latin typeface="Times New Roman" panose="02020603050405020304" pitchFamily="18" charset="0"/>
                <a:cs typeface="Times New Roman" panose="02020603050405020304" pitchFamily="18" charset="0"/>
              </a:rPr>
              <a:t>201301</a:t>
            </a:r>
          </a:p>
          <a:p>
            <a:pPr algn="just">
              <a:lnSpc>
                <a:spcPct val="150000"/>
              </a:lnSpc>
            </a:pPr>
            <a:r>
              <a:rPr lang="en-GB" b="1" dirty="0" smtClean="0">
                <a:latin typeface="Times New Roman" panose="02020603050405020304" pitchFamily="18" charset="0"/>
                <a:cs typeface="Times New Roman" panose="02020603050405020304" pitchFamily="18" charset="0"/>
              </a:rPr>
              <a:t>About Company:</a:t>
            </a:r>
          </a:p>
          <a:p>
            <a:pPr algn="just">
              <a:lnSpc>
                <a:spcPct val="150000"/>
              </a:lnSpc>
            </a:pPr>
            <a:r>
              <a:rPr lang="en-GB" dirty="0" err="1" smtClean="0">
                <a:latin typeface="Times New Roman" panose="02020603050405020304" pitchFamily="18" charset="0"/>
                <a:cs typeface="Times New Roman" panose="02020603050405020304" pitchFamily="18" charset="0"/>
              </a:rPr>
              <a:t>KaroStartup</a:t>
            </a:r>
            <a:r>
              <a:rPr lang="en-GB" dirty="0" smtClean="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is an organization that focuses on supporting and promoting </a:t>
            </a:r>
            <a:r>
              <a:rPr lang="en-GB" dirty="0" err="1">
                <a:latin typeface="Times New Roman" panose="02020603050405020304" pitchFamily="18" charset="0"/>
                <a:cs typeface="Times New Roman" panose="02020603050405020304" pitchFamily="18" charset="0"/>
              </a:rPr>
              <a:t>startup</a:t>
            </a:r>
            <a:r>
              <a:rPr lang="en-GB" dirty="0">
                <a:latin typeface="Times New Roman" panose="02020603050405020304" pitchFamily="18" charset="0"/>
                <a:cs typeface="Times New Roman" panose="02020603050405020304" pitchFamily="18" charset="0"/>
              </a:rPr>
              <a:t> innovation, entrepreneurship, and skill development among students and aspiring entrepreneurs. The organization aims to bridge the gap between academic learning and industry requirements by providing practical exposure through internships, training programs, and real-world projects.</a:t>
            </a:r>
            <a:endParaRPr lang="en-IN" b="1" dirty="0">
              <a:latin typeface="Times New Roman" panose="02020603050405020304" pitchFamily="18" charset="0"/>
              <a:cs typeface="Times New Roman" panose="02020603050405020304" pitchFamily="18" charset="0"/>
            </a:endParaRPr>
          </a:p>
          <a:p>
            <a:pPr algn="just">
              <a:lnSpc>
                <a:spcPct val="150000"/>
              </a:lnSpc>
            </a:pPr>
            <a:endParaRPr lang="en-US" dirty="0"/>
          </a:p>
          <a:p>
            <a:pPr algn="just">
              <a:lnSpc>
                <a:spcPct val="150000"/>
              </a:lnSpc>
            </a:pPr>
            <a:endParaRPr lang="en-IN" dirty="0"/>
          </a:p>
        </p:txBody>
      </p:sp>
      <p:sp>
        <p:nvSpPr>
          <p:cNvPr id="6" name="Date Placeholder 5"/>
          <p:cNvSpPr>
            <a:spLocks noGrp="1"/>
          </p:cNvSpPr>
          <p:nvPr>
            <p:ph type="dt" sz="half" idx="10"/>
          </p:nvPr>
        </p:nvSpPr>
        <p:spPr>
          <a:xfrm>
            <a:off x="685800" y="6356350"/>
            <a:ext cx="2743200" cy="365125"/>
          </a:xfrm>
        </p:spPr>
        <p:txBody>
          <a:bodyPr/>
          <a:lstStyle/>
          <a:p>
            <a:fld id="{CC8A28C8-AE27-472F-A90A-23AF92F5C01C}" type="datetime3">
              <a:rPr lang="en-IN" smtClean="0"/>
              <a:t>8 March 2026</a:t>
            </a:fld>
            <a:endParaRPr lang="en-IN" dirty="0"/>
          </a:p>
        </p:txBody>
      </p:sp>
      <p:sp>
        <p:nvSpPr>
          <p:cNvPr id="7" name="Footer Placeholder 6"/>
          <p:cNvSpPr>
            <a:spLocks noGrp="1"/>
          </p:cNvSpPr>
          <p:nvPr>
            <p:ph type="ftr" sz="quarter" idx="11"/>
          </p:nvPr>
        </p:nvSpPr>
        <p:spPr/>
        <p:txBody>
          <a:bodyPr/>
          <a:lstStyle/>
          <a:p>
            <a:r>
              <a:rPr lang="en-IN" smtClean="0"/>
              <a:t>Dept of CS&amp;BS,MCE,Hassan</a:t>
            </a:r>
            <a:endParaRPr lang="en-IN"/>
          </a:p>
        </p:txBody>
      </p:sp>
      <p:sp>
        <p:nvSpPr>
          <p:cNvPr id="2" name="Slide Number Placeholder 1"/>
          <p:cNvSpPr>
            <a:spLocks noGrp="1"/>
          </p:cNvSpPr>
          <p:nvPr>
            <p:ph type="sldNum" sz="quarter" idx="12"/>
          </p:nvPr>
        </p:nvSpPr>
        <p:spPr/>
        <p:txBody>
          <a:bodyPr/>
          <a:lstStyle/>
          <a:p>
            <a:fld id="{B473A766-B309-47EB-97F3-0F5A39AB9154}" type="slidenum">
              <a:rPr lang="en-IN" smtClean="0"/>
              <a:t>3</a:t>
            </a:fld>
            <a:endParaRPr lang="en-IN"/>
          </a:p>
        </p:txBody>
      </p:sp>
    </p:spTree>
    <p:extLst>
      <p:ext uri="{BB962C8B-B14F-4D97-AF65-F5344CB8AC3E}">
        <p14:creationId xmlns:p14="http://schemas.microsoft.com/office/powerpoint/2010/main" val="25757128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3327B-836D-3A18-AEDE-D4F2ED3BCBE5}"/>
              </a:ext>
            </a:extLst>
          </p:cNvPr>
          <p:cNvSpPr txBox="1"/>
          <p:nvPr/>
        </p:nvSpPr>
        <p:spPr>
          <a:xfrm>
            <a:off x="454036" y="1065867"/>
            <a:ext cx="11159895" cy="4765728"/>
          </a:xfrm>
          <a:prstGeom prst="rect">
            <a:avLst/>
          </a:prstGeom>
          <a:noFill/>
        </p:spPr>
        <p:txBody>
          <a:bodyPr wrap="square">
            <a:spAutoFit/>
          </a:bodyPr>
          <a:lstStyle/>
          <a:p>
            <a:pPr marL="342900" indent="-342900" algn="just">
              <a:lnSpc>
                <a:spcPct val="150000"/>
              </a:lnSpc>
              <a:spcBef>
                <a:spcPts val="1200"/>
              </a:spcBef>
              <a:spcAft>
                <a:spcPts val="1200"/>
              </a:spcAf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The domain of work during the internship at </a:t>
            </a:r>
            <a:r>
              <a:rPr lang="en-GB" sz="2400" dirty="0" err="1">
                <a:latin typeface="Times New Roman" panose="02020603050405020304" pitchFamily="18" charset="0"/>
                <a:cs typeface="Times New Roman" panose="02020603050405020304" pitchFamily="18" charset="0"/>
              </a:rPr>
              <a:t>KaroStartup</a:t>
            </a:r>
            <a:r>
              <a:rPr lang="en-GB" sz="2400" dirty="0">
                <a:latin typeface="Times New Roman" panose="02020603050405020304" pitchFamily="18" charset="0"/>
                <a:cs typeface="Times New Roman" panose="02020603050405020304" pitchFamily="18" charset="0"/>
              </a:rPr>
              <a:t> was primarily focused on Data Analytics and </a:t>
            </a:r>
            <a:r>
              <a:rPr lang="en-GB" sz="2400" dirty="0" err="1">
                <a:latin typeface="Times New Roman" panose="02020603050405020304" pitchFamily="18" charset="0"/>
                <a:cs typeface="Times New Roman" panose="02020603050405020304" pitchFamily="18" charset="0"/>
              </a:rPr>
              <a:t>Startup</a:t>
            </a:r>
            <a:r>
              <a:rPr lang="en-GB" sz="2400" dirty="0">
                <a:latin typeface="Times New Roman" panose="02020603050405020304" pitchFamily="18" charset="0"/>
                <a:cs typeface="Times New Roman" panose="02020603050405020304" pitchFamily="18" charset="0"/>
              </a:rPr>
              <a:t> Ecosystem Analysis. The internship involved working with datasets related to </a:t>
            </a:r>
            <a:r>
              <a:rPr lang="en-GB" sz="2400" dirty="0" err="1">
                <a:latin typeface="Times New Roman" panose="02020603050405020304" pitchFamily="18" charset="0"/>
                <a:cs typeface="Times New Roman" panose="02020603050405020304" pitchFamily="18" charset="0"/>
              </a:rPr>
              <a:t>startup</a:t>
            </a:r>
            <a:r>
              <a:rPr lang="en-GB" sz="2400" dirty="0">
                <a:latin typeface="Times New Roman" panose="02020603050405020304" pitchFamily="18" charset="0"/>
                <a:cs typeface="Times New Roman" panose="02020603050405020304" pitchFamily="18" charset="0"/>
              </a:rPr>
              <a:t> funding and </a:t>
            </a:r>
            <a:r>
              <a:rPr lang="en-GB" sz="2400" dirty="0" err="1">
                <a:latin typeface="Times New Roman" panose="02020603050405020304" pitchFamily="18" charset="0"/>
                <a:cs typeface="Times New Roman" panose="02020603050405020304" pitchFamily="18" charset="0"/>
              </a:rPr>
              <a:t>analyzing</a:t>
            </a:r>
            <a:r>
              <a:rPr lang="en-GB" sz="2400" dirty="0">
                <a:latin typeface="Times New Roman" panose="02020603050405020304" pitchFamily="18" charset="0"/>
                <a:cs typeface="Times New Roman" panose="02020603050405020304" pitchFamily="18" charset="0"/>
              </a:rPr>
              <a:t> them to identify patterns, trends, and insights within the </a:t>
            </a:r>
            <a:r>
              <a:rPr lang="en-GB" sz="2400" dirty="0" err="1">
                <a:latin typeface="Times New Roman" panose="02020603050405020304" pitchFamily="18" charset="0"/>
                <a:cs typeface="Times New Roman" panose="02020603050405020304" pitchFamily="18" charset="0"/>
              </a:rPr>
              <a:t>startup</a:t>
            </a:r>
            <a:r>
              <a:rPr lang="en-GB" sz="2400" dirty="0">
                <a:latin typeface="Times New Roman" panose="02020603050405020304" pitchFamily="18" charset="0"/>
                <a:cs typeface="Times New Roman" panose="02020603050405020304" pitchFamily="18" charset="0"/>
              </a:rPr>
              <a:t> ecosystem. </a:t>
            </a:r>
            <a:endParaRPr lang="en-GB" sz="2400" dirty="0" smtClean="0">
              <a:latin typeface="Times New Roman" panose="02020603050405020304" pitchFamily="18" charset="0"/>
              <a:cs typeface="Times New Roman" panose="02020603050405020304" pitchFamily="18" charset="0"/>
            </a:endParaRPr>
          </a:p>
          <a:p>
            <a:pPr marL="342900" indent="-342900" algn="just">
              <a:lnSpc>
                <a:spcPct val="150000"/>
              </a:lnSpc>
              <a:spcBef>
                <a:spcPts val="1200"/>
              </a:spcBef>
              <a:spcAft>
                <a:spcPts val="1200"/>
              </a:spcAft>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A </a:t>
            </a:r>
            <a:r>
              <a:rPr lang="en-GB" sz="2400" dirty="0">
                <a:latin typeface="Times New Roman" panose="02020603050405020304" pitchFamily="18" charset="0"/>
                <a:cs typeface="Times New Roman" panose="02020603050405020304" pitchFamily="18" charset="0"/>
              </a:rPr>
              <a:t>major part of the work involved </a:t>
            </a:r>
            <a:r>
              <a:rPr lang="en-GB" sz="2400" dirty="0" err="1">
                <a:latin typeface="Times New Roman" panose="02020603050405020304" pitchFamily="18" charset="0"/>
                <a:cs typeface="Times New Roman" panose="02020603050405020304" pitchFamily="18" charset="0"/>
              </a:rPr>
              <a:t>analyzing</a:t>
            </a:r>
            <a:r>
              <a:rPr lang="en-GB" sz="2400" dirty="0">
                <a:latin typeface="Times New Roman" panose="02020603050405020304" pitchFamily="18" charset="0"/>
                <a:cs typeface="Times New Roman" panose="02020603050405020304" pitchFamily="18" charset="0"/>
              </a:rPr>
              <a:t> </a:t>
            </a:r>
            <a:r>
              <a:rPr lang="en-GB" sz="2400" dirty="0" err="1">
                <a:latin typeface="Times New Roman" panose="02020603050405020304" pitchFamily="18" charset="0"/>
                <a:cs typeface="Times New Roman" panose="02020603050405020304" pitchFamily="18" charset="0"/>
              </a:rPr>
              <a:t>startup</a:t>
            </a:r>
            <a:r>
              <a:rPr lang="en-GB" sz="2400" dirty="0">
                <a:latin typeface="Times New Roman" panose="02020603050405020304" pitchFamily="18" charset="0"/>
                <a:cs typeface="Times New Roman" panose="02020603050405020304" pitchFamily="18" charset="0"/>
              </a:rPr>
              <a:t> funding data using Python programming and various data analysis libraries. Tools such as Pandas and </a:t>
            </a:r>
            <a:r>
              <a:rPr lang="en-GB" sz="2400" dirty="0" err="1">
                <a:latin typeface="Times New Roman" panose="02020603050405020304" pitchFamily="18" charset="0"/>
                <a:cs typeface="Times New Roman" panose="02020603050405020304" pitchFamily="18" charset="0"/>
              </a:rPr>
              <a:t>NumPy</a:t>
            </a:r>
            <a:r>
              <a:rPr lang="en-GB" sz="2400" dirty="0">
                <a:latin typeface="Times New Roman" panose="02020603050405020304" pitchFamily="18" charset="0"/>
                <a:cs typeface="Times New Roman" panose="02020603050405020304" pitchFamily="18" charset="0"/>
              </a:rPr>
              <a:t> were used for handling and processing large datasets, while </a:t>
            </a:r>
            <a:r>
              <a:rPr lang="en-GB" sz="2400" dirty="0" err="1">
                <a:latin typeface="Times New Roman" panose="02020603050405020304" pitchFamily="18" charset="0"/>
                <a:cs typeface="Times New Roman" panose="02020603050405020304" pitchFamily="18" charset="0"/>
              </a:rPr>
              <a:t>Matplotlib</a:t>
            </a:r>
            <a:r>
              <a:rPr lang="en-GB" sz="2400" dirty="0">
                <a:latin typeface="Times New Roman" panose="02020603050405020304" pitchFamily="18" charset="0"/>
                <a:cs typeface="Times New Roman" panose="02020603050405020304" pitchFamily="18" charset="0"/>
              </a:rPr>
              <a:t> and </a:t>
            </a:r>
            <a:r>
              <a:rPr lang="en-GB" sz="2400" dirty="0" err="1">
                <a:latin typeface="Times New Roman" panose="02020603050405020304" pitchFamily="18" charset="0"/>
                <a:cs typeface="Times New Roman" panose="02020603050405020304" pitchFamily="18" charset="0"/>
              </a:rPr>
              <a:t>Seaborn</a:t>
            </a:r>
            <a:r>
              <a:rPr lang="en-GB" sz="2400" dirty="0">
                <a:latin typeface="Times New Roman" panose="02020603050405020304" pitchFamily="18" charset="0"/>
                <a:cs typeface="Times New Roman" panose="02020603050405020304" pitchFamily="18" charset="0"/>
              </a:rPr>
              <a:t> were used to create visual representations of the data. </a:t>
            </a:r>
            <a:endParaRPr lang="en-US" sz="2200" i="0" dirty="0">
              <a:solidFill>
                <a:srgbClr val="0F1115"/>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7E9062E-E705-91BA-A37B-23CFC2F7528E}"/>
              </a:ext>
            </a:extLst>
          </p:cNvPr>
          <p:cNvSpPr txBox="1"/>
          <p:nvPr/>
        </p:nvSpPr>
        <p:spPr>
          <a:xfrm>
            <a:off x="454036" y="554266"/>
            <a:ext cx="9006373" cy="409728"/>
          </a:xfrm>
          <a:prstGeom prst="rect">
            <a:avLst/>
          </a:prstGeom>
          <a:noFill/>
        </p:spPr>
        <p:txBody>
          <a:bodyPr wrap="square">
            <a:spAutoFit/>
          </a:bodyPr>
          <a:lstStyle/>
          <a:p>
            <a:pPr algn="l">
              <a:lnSpc>
                <a:spcPts val="2250"/>
              </a:lnSpc>
              <a:spcBef>
                <a:spcPts val="2400"/>
              </a:spcBef>
              <a:spcAft>
                <a:spcPts val="1200"/>
              </a:spcAft>
              <a:buNone/>
            </a:pPr>
            <a:r>
              <a:rPr lang="en-US" sz="3200" b="1" dirty="0" smtClean="0">
                <a:solidFill>
                  <a:srgbClr val="FF0000"/>
                </a:solidFill>
                <a:effectLst/>
                <a:latin typeface="Times New Roman" panose="02020603050405020304" pitchFamily="18" charset="0"/>
                <a:cs typeface="Times New Roman" panose="02020603050405020304" pitchFamily="18" charset="0"/>
              </a:rPr>
              <a:t>DOMAIN OF WORK</a:t>
            </a:r>
            <a:endParaRPr lang="en-US" sz="3200" b="1" dirty="0">
              <a:solidFill>
                <a:srgbClr val="FF0000"/>
              </a:solidFill>
              <a:effectLst/>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8D636D72-E4FF-4348-8F08-B6039EE88376}" type="datetime3">
              <a:rPr lang="en-IN" smtClean="0"/>
              <a:t>8 March 2026</a:t>
            </a:fld>
            <a:endParaRPr lang="en-IN"/>
          </a:p>
        </p:txBody>
      </p:sp>
      <p:sp>
        <p:nvSpPr>
          <p:cNvPr id="8" name="Footer Placeholder 7"/>
          <p:cNvSpPr>
            <a:spLocks noGrp="1"/>
          </p:cNvSpPr>
          <p:nvPr>
            <p:ph type="ftr" sz="quarter" idx="11"/>
          </p:nvPr>
        </p:nvSpPr>
        <p:spPr/>
        <p:txBody>
          <a:bodyPr/>
          <a:lstStyle/>
          <a:p>
            <a:r>
              <a:rPr lang="en-IN" smtClean="0"/>
              <a:t>Dept of CS&amp;BS,MCE,Hassan</a:t>
            </a:r>
            <a:endParaRPr lang="en-IN"/>
          </a:p>
        </p:txBody>
      </p:sp>
      <p:sp>
        <p:nvSpPr>
          <p:cNvPr id="4" name="Slide Number Placeholder 3"/>
          <p:cNvSpPr>
            <a:spLocks noGrp="1"/>
          </p:cNvSpPr>
          <p:nvPr>
            <p:ph type="sldNum" sz="quarter" idx="12"/>
          </p:nvPr>
        </p:nvSpPr>
        <p:spPr/>
        <p:txBody>
          <a:bodyPr/>
          <a:lstStyle/>
          <a:p>
            <a:fld id="{B473A766-B309-47EB-97F3-0F5A39AB9154}" type="slidenum">
              <a:rPr lang="en-IN" smtClean="0"/>
              <a:t>4</a:t>
            </a:fld>
            <a:endParaRPr lang="en-IN"/>
          </a:p>
        </p:txBody>
      </p:sp>
    </p:spTree>
    <p:extLst>
      <p:ext uri="{BB962C8B-B14F-4D97-AF65-F5344CB8AC3E}">
        <p14:creationId xmlns:p14="http://schemas.microsoft.com/office/powerpoint/2010/main" val="37348507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880" y="-132715"/>
            <a:ext cx="10515600" cy="1325563"/>
          </a:xfrm>
        </p:spPr>
        <p:txBody>
          <a:bodyPr>
            <a:normAutofit/>
          </a:bodyPr>
          <a:lstStyle/>
          <a:p>
            <a:r>
              <a:rPr lang="en-GB" sz="3200" b="1" dirty="0" smtClean="0">
                <a:solidFill>
                  <a:srgbClr val="FF0000"/>
                </a:solidFill>
                <a:latin typeface="Times New Roman" panose="02020603050405020304" pitchFamily="18" charset="0"/>
                <a:cs typeface="Times New Roman" panose="02020603050405020304" pitchFamily="18" charset="0"/>
              </a:rPr>
              <a:t>INTERNSHIP OBJECTIVES</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B9116BA-DC81-4100-8486-DC5D730ACAE0}"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Rectangle 1"/>
          <p:cNvSpPr>
            <a:spLocks noGrp="1" noChangeArrowheads="1"/>
          </p:cNvSpPr>
          <p:nvPr>
            <p:ph idx="1"/>
          </p:nvPr>
        </p:nvSpPr>
        <p:spPr bwMode="auto">
          <a:xfrm>
            <a:off x="440914" y="942972"/>
            <a:ext cx="669702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gain practical industry </a:t>
            </a:r>
            <a:r>
              <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experience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develop data analysis skills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learn Python programming for data analysis</a:t>
            </a:r>
          </a:p>
          <a:p>
            <a:pPr marL="0" indent="0"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To understand the startup ecosystem</a:t>
            </a:r>
          </a:p>
          <a:p>
            <a:pPr marL="0" indent="0"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To improve data visualization skills</a:t>
            </a:r>
          </a:p>
          <a:p>
            <a:pPr marL="0" indent="0" algn="just"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To enhance problem-solving and analytical thinking</a:t>
            </a: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473A766-B309-47EB-97F3-0F5A39AB9154}" type="slidenum">
              <a:rPr lang="en-IN" smtClean="0"/>
              <a:t>5</a:t>
            </a:fld>
            <a:endParaRPr lang="en-IN"/>
          </a:p>
        </p:txBody>
      </p:sp>
    </p:spTree>
    <p:extLst>
      <p:ext uri="{BB962C8B-B14F-4D97-AF65-F5344CB8AC3E}">
        <p14:creationId xmlns:p14="http://schemas.microsoft.com/office/powerpoint/2010/main" val="32929597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520" y="233045"/>
            <a:ext cx="10515600" cy="528955"/>
          </a:xfrm>
        </p:spPr>
        <p:txBody>
          <a:bodyPr>
            <a:normAutofit fontScale="90000"/>
          </a:bodyPr>
          <a:lstStyle/>
          <a:p>
            <a:r>
              <a:rPr lang="en-GB" sz="3200" b="1" dirty="0" smtClean="0">
                <a:solidFill>
                  <a:srgbClr val="FF0000"/>
                </a:solidFill>
                <a:latin typeface="Times New Roman" panose="02020603050405020304" pitchFamily="18" charset="0"/>
                <a:cs typeface="Times New Roman" panose="02020603050405020304" pitchFamily="18" charset="0"/>
              </a:rPr>
              <a:t>TASK ASSIGNED DURING THE INTERNSHIP</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13A9AC3-74BF-4950-9E03-8CC06A478AAE}"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Rectangle 1"/>
          <p:cNvSpPr>
            <a:spLocks noGrp="1" noChangeArrowheads="1"/>
          </p:cNvSpPr>
          <p:nvPr>
            <p:ph idx="1"/>
          </p:nvPr>
        </p:nvSpPr>
        <p:spPr bwMode="auto">
          <a:xfrm>
            <a:off x="489251" y="762000"/>
            <a:ext cx="1156598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Startup Ecosystem Data Analysis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One of the main tasks assigned during the internship was to analyze startup ecosystem data.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involved studying information related to startup companies, funding rounds, industries,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and investors.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Dataset Collection and Preparation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Another task was collecting and preparing datasets related to startup funding. The dataset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included details such as company name, funding date, industry,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location,etc</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Cleaning and Preprocessing</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task involved identifying and handling missing values, removing duplicate records, and</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correcting data formatting issues to ensure the accuracy and reliability of the dataset.</a:t>
            </a:r>
          </a:p>
        </p:txBody>
      </p:sp>
      <p:sp>
        <p:nvSpPr>
          <p:cNvPr id="7" name="Slide Number Placeholder 6"/>
          <p:cNvSpPr>
            <a:spLocks noGrp="1"/>
          </p:cNvSpPr>
          <p:nvPr>
            <p:ph type="sldNum" sz="quarter" idx="12"/>
          </p:nvPr>
        </p:nvSpPr>
        <p:spPr/>
        <p:txBody>
          <a:bodyPr/>
          <a:lstStyle/>
          <a:p>
            <a:fld id="{B473A766-B309-47EB-97F3-0F5A39AB9154}" type="slidenum">
              <a:rPr lang="en-IN" smtClean="0"/>
              <a:t>6</a:t>
            </a:fld>
            <a:endParaRPr lang="en-IN"/>
          </a:p>
        </p:txBody>
      </p:sp>
    </p:spTree>
    <p:extLst>
      <p:ext uri="{BB962C8B-B14F-4D97-AF65-F5344CB8AC3E}">
        <p14:creationId xmlns:p14="http://schemas.microsoft.com/office/powerpoint/2010/main" val="638615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0200" y="-71755"/>
            <a:ext cx="10515600" cy="1325563"/>
          </a:xfrm>
        </p:spPr>
        <p:txBody>
          <a:bodyPr>
            <a:normAutofit/>
          </a:bodyPr>
          <a:lstStyle/>
          <a:p>
            <a:r>
              <a:rPr lang="en-GB" sz="3200" b="1" dirty="0">
                <a:solidFill>
                  <a:srgbClr val="FF0000"/>
                </a:solidFill>
                <a:latin typeface="Times New Roman" panose="02020603050405020304" pitchFamily="18" charset="0"/>
                <a:cs typeface="Times New Roman" panose="02020603050405020304" pitchFamily="18" charset="0"/>
              </a:rPr>
              <a:t>TASK ASSIGNED DURING THE INTERNSHIP</a:t>
            </a:r>
            <a:endParaRPr lang="en-IN" sz="3200" dirty="0"/>
          </a:p>
        </p:txBody>
      </p:sp>
      <p:sp>
        <p:nvSpPr>
          <p:cNvPr id="4" name="Date Placeholder 3"/>
          <p:cNvSpPr>
            <a:spLocks noGrp="1"/>
          </p:cNvSpPr>
          <p:nvPr>
            <p:ph type="dt" sz="half" idx="10"/>
          </p:nvPr>
        </p:nvSpPr>
        <p:spPr/>
        <p:txBody>
          <a:bodyPr/>
          <a:lstStyle/>
          <a:p>
            <a:fld id="{B6050B88-674D-4703-8A27-C2EAE9B72BBB}"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Rectangle 1"/>
          <p:cNvSpPr>
            <a:spLocks noGrp="1" noChangeArrowheads="1"/>
          </p:cNvSpPr>
          <p:nvPr>
            <p:ph idx="1"/>
          </p:nvPr>
        </p:nvSpPr>
        <p:spPr bwMode="auto">
          <a:xfrm>
            <a:off x="443576" y="939978"/>
            <a:ext cx="1185292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Performing Data Analysis using Python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Libraries such as Pandas and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were used to process data, perform calculations, and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analyze trends in startup funding.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Creating Data Visualizations</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Charts and graphs were created using visualization libraries such as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Matplotlib</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Seaborn</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present insights in a clear and understandable format.</a:t>
            </a:r>
          </a:p>
          <a:p>
            <a:pPr marL="0" lvl="0" indent="0" algn="just" eaLnBrk="0" fontAlgn="base" hangingPunct="0">
              <a:lnSpc>
                <a:spcPct val="150000"/>
              </a:lnSpc>
              <a:spcBef>
                <a:spcPct val="0"/>
              </a:spcBef>
              <a:spcAft>
                <a:spcPct val="0"/>
              </a:spcAft>
              <a:buFontTx/>
              <a:buChar char="•"/>
            </a:pPr>
            <a:r>
              <a:rPr lang="en-GB" sz="2400" b="1" dirty="0" smtClean="0">
                <a:latin typeface="Times New Roman" panose="02020603050405020304" pitchFamily="18" charset="0"/>
                <a:cs typeface="Times New Roman" panose="02020603050405020304" pitchFamily="18" charset="0"/>
              </a:rPr>
              <a:t>Generating </a:t>
            </a:r>
            <a:r>
              <a:rPr lang="en-GB" sz="2400" b="1" dirty="0">
                <a:latin typeface="Times New Roman" panose="02020603050405020304" pitchFamily="18" charset="0"/>
                <a:cs typeface="Times New Roman" panose="02020603050405020304" pitchFamily="18" charset="0"/>
              </a:rPr>
              <a:t>Analytical Reports</a:t>
            </a:r>
            <a:r>
              <a:rPr lang="en-GB" sz="2400" dirty="0">
                <a:latin typeface="Times New Roman" panose="02020603050405020304" pitchFamily="18" charset="0"/>
                <a:cs typeface="Times New Roman" panose="02020603050405020304" pitchFamily="18" charset="0"/>
              </a:rPr>
              <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After completing the analysis, reports were prepared to explain the findings</a:t>
            </a:r>
            <a:r>
              <a:rPr lang="en-GB" sz="2400" dirty="0" smtClean="0">
                <a:latin typeface="Times New Roman" panose="02020603050405020304" pitchFamily="18" charset="0"/>
                <a:cs typeface="Times New Roman" panose="02020603050405020304" pitchFamily="18" charset="0"/>
              </a:rPr>
              <a:t>.</a:t>
            </a:r>
          </a:p>
          <a:p>
            <a:pPr marL="0" lvl="0" indent="0" algn="just" eaLnBrk="0" fontAlgn="base" hangingPunct="0">
              <a:lnSpc>
                <a:spcPct val="150000"/>
              </a:lnSpc>
              <a:spcBef>
                <a:spcPct val="0"/>
              </a:spcBef>
              <a:spcAft>
                <a:spcPct val="0"/>
              </a:spcAft>
              <a:buNone/>
            </a:pPr>
            <a:r>
              <a:rPr lang="en-GB" sz="2400" dirty="0" smtClean="0">
                <a:latin typeface="Times New Roman" panose="02020603050405020304" pitchFamily="18" charset="0"/>
                <a:cs typeface="Times New Roman" panose="02020603050405020304" pitchFamily="18" charset="0"/>
              </a:rPr>
              <a:t>These </a:t>
            </a:r>
            <a:r>
              <a:rPr lang="en-GB" sz="2400" dirty="0">
                <a:latin typeface="Times New Roman" panose="02020603050405020304" pitchFamily="18" charset="0"/>
                <a:cs typeface="Times New Roman" panose="02020603050405020304" pitchFamily="18" charset="0"/>
              </a:rPr>
              <a:t>reports included explanations of trends, patterns, and insights derived from the dataset.</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
        <p:nvSpPr>
          <p:cNvPr id="7" name="Slide Number Placeholder 6"/>
          <p:cNvSpPr>
            <a:spLocks noGrp="1"/>
          </p:cNvSpPr>
          <p:nvPr>
            <p:ph type="sldNum" sz="quarter" idx="12"/>
          </p:nvPr>
        </p:nvSpPr>
        <p:spPr/>
        <p:txBody>
          <a:bodyPr/>
          <a:lstStyle/>
          <a:p>
            <a:fld id="{B473A766-B309-47EB-97F3-0F5A39AB9154}" type="slidenum">
              <a:rPr lang="en-IN" smtClean="0"/>
              <a:t>7</a:t>
            </a:fld>
            <a:endParaRPr lang="en-IN"/>
          </a:p>
        </p:txBody>
      </p:sp>
    </p:spTree>
    <p:extLst>
      <p:ext uri="{BB962C8B-B14F-4D97-AF65-F5344CB8AC3E}">
        <p14:creationId xmlns:p14="http://schemas.microsoft.com/office/powerpoint/2010/main" val="10790059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3" y="-76310"/>
            <a:ext cx="10515600" cy="1325563"/>
          </a:xfrm>
        </p:spPr>
        <p:txBody>
          <a:bodyPr>
            <a:normAutofit/>
          </a:bodyPr>
          <a:lstStyle/>
          <a:p>
            <a:r>
              <a:rPr lang="en-GB" sz="3200" b="1" dirty="0">
                <a:solidFill>
                  <a:srgbClr val="FF0000"/>
                </a:solidFill>
                <a:latin typeface="Times New Roman" panose="02020603050405020304" pitchFamily="18" charset="0"/>
                <a:cs typeface="Times New Roman" panose="02020603050405020304" pitchFamily="18" charset="0"/>
              </a:rPr>
              <a:t>TASK ASSIGNED DURING THE INTERNSHIP</a:t>
            </a:r>
            <a:endParaRPr lang="en-IN" sz="3200" dirty="0"/>
          </a:p>
        </p:txBody>
      </p:sp>
      <p:sp>
        <p:nvSpPr>
          <p:cNvPr id="4" name="Date Placeholder 3"/>
          <p:cNvSpPr>
            <a:spLocks noGrp="1"/>
          </p:cNvSpPr>
          <p:nvPr>
            <p:ph type="dt" sz="half" idx="10"/>
          </p:nvPr>
        </p:nvSpPr>
        <p:spPr/>
        <p:txBody>
          <a:bodyPr/>
          <a:lstStyle/>
          <a:p>
            <a:fld id="{F1E7DA8F-AB5A-4354-B72D-EE82B6080052}"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Rectangle 1"/>
          <p:cNvSpPr>
            <a:spLocks noGrp="1" noChangeArrowheads="1"/>
          </p:cNvSpPr>
          <p:nvPr>
            <p:ph idx="1"/>
          </p:nvPr>
        </p:nvSpPr>
        <p:spPr bwMode="auto">
          <a:xfrm>
            <a:off x="462086" y="963598"/>
            <a:ext cx="1126782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Studying Startup Funding Trends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Another task involved examining how funding amounts change over time and identifying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industries that receive the most investment. </a:t>
            </a:r>
          </a:p>
          <a:p>
            <a:pPr algn="just" eaLnBrk="0" fontAlgn="base" hangingPunct="0">
              <a:lnSpc>
                <a:spcPct val="15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Documenting the Work Process</a:t>
            </a:r>
            <a:endParaRPr lang="en-US" altLang="en-US" sz="2400" dirty="0">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Throughout the internship, it was necessary to document the methods, analysis steps, and</a:t>
            </a:r>
          </a:p>
          <a:p>
            <a:pPr marL="0" indent="0" algn="just" eaLnBrk="0" fontAlgn="base" hangingPunct="0">
              <a:lnSpc>
                <a:spcPct val="150000"/>
              </a:lnSpc>
              <a:spcBef>
                <a:spcPct val="0"/>
              </a:spcBef>
              <a:spcAft>
                <a:spcPct val="0"/>
              </a:spcAft>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results. Proper documentation ensured that the work could be easily understood.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Presenting the Project Findings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final task involved summarizing the project results and preparing a presentation to</a:t>
            </a:r>
            <a:r>
              <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explain the analysis process, findings, and conclusions of the internship work.</a:t>
            </a:r>
          </a:p>
        </p:txBody>
      </p:sp>
      <p:sp>
        <p:nvSpPr>
          <p:cNvPr id="7" name="Slide Number Placeholder 6"/>
          <p:cNvSpPr>
            <a:spLocks noGrp="1"/>
          </p:cNvSpPr>
          <p:nvPr>
            <p:ph type="sldNum" sz="quarter" idx="12"/>
          </p:nvPr>
        </p:nvSpPr>
        <p:spPr/>
        <p:txBody>
          <a:bodyPr/>
          <a:lstStyle/>
          <a:p>
            <a:fld id="{B473A766-B309-47EB-97F3-0F5A39AB9154}" type="slidenum">
              <a:rPr lang="en-IN" smtClean="0"/>
              <a:t>8</a:t>
            </a:fld>
            <a:endParaRPr lang="en-IN"/>
          </a:p>
        </p:txBody>
      </p:sp>
    </p:spTree>
    <p:extLst>
      <p:ext uri="{BB962C8B-B14F-4D97-AF65-F5344CB8AC3E}">
        <p14:creationId xmlns:p14="http://schemas.microsoft.com/office/powerpoint/2010/main" val="17298471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152" y="0"/>
            <a:ext cx="11427372" cy="1325563"/>
          </a:xfrm>
        </p:spPr>
        <p:txBody>
          <a:bodyPr>
            <a:normAutofit/>
          </a:bodyPr>
          <a:lstStyle/>
          <a:p>
            <a:r>
              <a:rPr lang="en-GB" sz="3200" b="1" dirty="0" smtClean="0">
                <a:solidFill>
                  <a:srgbClr val="FF0000"/>
                </a:solidFill>
                <a:latin typeface="Times New Roman" panose="02020603050405020304" pitchFamily="18" charset="0"/>
                <a:cs typeface="Times New Roman" panose="02020603050405020304" pitchFamily="18" charset="0"/>
              </a:rPr>
              <a:t>TECHNICAL KNOWLEDGE GAINED/SKILLS DEVELOPED DURING THE INTERNSHIP</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A4BF1E4-20A8-41C6-A1EF-7AD19D692456}"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Rectangle 1"/>
          <p:cNvSpPr>
            <a:spLocks noGrp="1" noChangeArrowheads="1"/>
          </p:cNvSpPr>
          <p:nvPr>
            <p:ph idx="1"/>
          </p:nvPr>
        </p:nvSpPr>
        <p:spPr bwMode="auto">
          <a:xfrm>
            <a:off x="375746" y="1197992"/>
            <a:ext cx="1169583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Python Programming Skills</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During the internship, I improved my knowledge of Python programming, which is widely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used in data analysis and data science. </a:t>
            </a:r>
          </a:p>
          <a:p>
            <a:pPr algn="just" eaLnBrk="0" fontAlgn="base" hangingPunct="0">
              <a:lnSpc>
                <a:spcPct val="15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Analysis Techniques</a:t>
            </a:r>
            <a:endParaRPr lang="en-US" altLang="en-US" sz="2400" dirty="0">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 developed skills in analyzing large datasets to identify patterns, trends, and insights. </a:t>
            </a:r>
          </a:p>
          <a:p>
            <a:pPr algn="just" eaLnBrk="0" fontAlgn="base" hangingPunct="0">
              <a:lnSpc>
                <a:spcPct val="15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Manipulation using Pandas</a:t>
            </a:r>
          </a:p>
          <a:p>
            <a:pPr marL="0" indent="0" algn="just" eaLnBrk="0" fontAlgn="base" hangingPunct="0">
              <a:lnSpc>
                <a:spcPct val="150000"/>
              </a:lnSpc>
              <a:spcBef>
                <a:spcPct val="0"/>
              </a:spcBef>
              <a:spcAft>
                <a:spcPct val="0"/>
              </a:spcAft>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 learned how to use the Pandas library for handling structured data. Pandas helped in reading</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datasets, organizing data into tables, filtering information, grouping records, and performing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various data operations efficiently.</a:t>
            </a:r>
          </a:p>
        </p:txBody>
      </p:sp>
      <p:sp>
        <p:nvSpPr>
          <p:cNvPr id="7" name="Slide Number Placeholder 6"/>
          <p:cNvSpPr>
            <a:spLocks noGrp="1"/>
          </p:cNvSpPr>
          <p:nvPr>
            <p:ph type="sldNum" sz="quarter" idx="12"/>
          </p:nvPr>
        </p:nvSpPr>
        <p:spPr/>
        <p:txBody>
          <a:bodyPr/>
          <a:lstStyle/>
          <a:p>
            <a:fld id="{B473A766-B309-47EB-97F3-0F5A39AB9154}" type="slidenum">
              <a:rPr lang="en-IN" smtClean="0"/>
              <a:t>9</a:t>
            </a:fld>
            <a:endParaRPr lang="en-IN"/>
          </a:p>
        </p:txBody>
      </p:sp>
    </p:spTree>
    <p:extLst>
      <p:ext uri="{BB962C8B-B14F-4D97-AF65-F5344CB8AC3E}">
        <p14:creationId xmlns:p14="http://schemas.microsoft.com/office/powerpoint/2010/main" val="26159077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076" y="144408"/>
            <a:ext cx="11529847" cy="1325563"/>
          </a:xfrm>
        </p:spPr>
        <p:txBody>
          <a:bodyPr>
            <a:normAutofit/>
          </a:bodyPr>
          <a:lstStyle/>
          <a:p>
            <a:r>
              <a:rPr lang="en-GB" sz="3200" b="1" dirty="0">
                <a:solidFill>
                  <a:srgbClr val="FF0000"/>
                </a:solidFill>
                <a:latin typeface="Times New Roman" panose="02020603050405020304" pitchFamily="18" charset="0"/>
                <a:cs typeface="Times New Roman" panose="02020603050405020304" pitchFamily="18" charset="0"/>
              </a:rPr>
              <a:t>TECHNICAL KNOWLEDGE GAINED/SKILLS DEVELOPED DURING THE INTERNSHIP</a:t>
            </a:r>
            <a:endParaRPr lang="en-IN" sz="3200" dirty="0"/>
          </a:p>
        </p:txBody>
      </p:sp>
      <p:sp>
        <p:nvSpPr>
          <p:cNvPr id="4" name="Date Placeholder 3"/>
          <p:cNvSpPr>
            <a:spLocks noGrp="1"/>
          </p:cNvSpPr>
          <p:nvPr>
            <p:ph type="dt" sz="half" idx="10"/>
          </p:nvPr>
        </p:nvSpPr>
        <p:spPr/>
        <p:txBody>
          <a:bodyPr/>
          <a:lstStyle/>
          <a:p>
            <a:fld id="{BA2AAD81-35E4-4C74-AD80-B4391D92F6D0}"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Rectangle 1"/>
          <p:cNvSpPr>
            <a:spLocks noGrp="1" noChangeArrowheads="1"/>
          </p:cNvSpPr>
          <p:nvPr>
            <p:ph idx="1"/>
          </p:nvPr>
        </p:nvSpPr>
        <p:spPr bwMode="auto">
          <a:xfrm>
            <a:off x="418176" y="1278037"/>
            <a:ext cx="1165896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Numerical Computation using </a:t>
            </a:r>
            <a:r>
              <a:rPr kumimoji="0" lang="en-US" altLang="en-US" sz="2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During the internship, I also gained knowledge of the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library, which is used for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numerical calculations. </a:t>
            </a:r>
          </a:p>
          <a:p>
            <a:pPr algn="just" eaLnBrk="0" fontAlgn="base" hangingPunct="0">
              <a:lnSpc>
                <a:spcPct val="15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Visualization Skills</a:t>
            </a:r>
            <a:endParaRPr lang="en-US" altLang="en-US" sz="2400" dirty="0">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None/>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 developed skills in creating visual representations of data using libraries such as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Matplotlib</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and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Seaborn</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algn="just" eaLnBrk="0" fontAlgn="base" hangingPunct="0">
              <a:lnSpc>
                <a:spcPct val="150000"/>
              </a:lnSpc>
              <a:spcBef>
                <a:spcPct val="0"/>
              </a:spcBef>
              <a:spcAft>
                <a:spcPct val="0"/>
              </a:spcAf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Cleaning and Preprocessing</a:t>
            </a:r>
            <a:endParaRPr lang="en-US"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included handling missing values, correcting data formats, and removing duplicate</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records to ensure the accuracy of the dataset.</a:t>
            </a:r>
          </a:p>
        </p:txBody>
      </p:sp>
      <p:sp>
        <p:nvSpPr>
          <p:cNvPr id="8" name="Slide Number Placeholder 7"/>
          <p:cNvSpPr>
            <a:spLocks noGrp="1"/>
          </p:cNvSpPr>
          <p:nvPr>
            <p:ph type="sldNum" sz="quarter" idx="12"/>
          </p:nvPr>
        </p:nvSpPr>
        <p:spPr/>
        <p:txBody>
          <a:bodyPr/>
          <a:lstStyle/>
          <a:p>
            <a:fld id="{B473A766-B309-47EB-97F3-0F5A39AB9154}" type="slidenum">
              <a:rPr lang="en-IN" smtClean="0"/>
              <a:t>10</a:t>
            </a:fld>
            <a:endParaRPr lang="en-IN"/>
          </a:p>
        </p:txBody>
      </p:sp>
    </p:spTree>
    <p:extLst>
      <p:ext uri="{BB962C8B-B14F-4D97-AF65-F5344CB8AC3E}">
        <p14:creationId xmlns:p14="http://schemas.microsoft.com/office/powerpoint/2010/main" val="24480172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840" y="0"/>
            <a:ext cx="11445240" cy="1325563"/>
          </a:xfrm>
        </p:spPr>
        <p:txBody>
          <a:bodyPr>
            <a:noAutofit/>
          </a:bodyPr>
          <a:lstStyle/>
          <a:p>
            <a:r>
              <a:rPr lang="en-GB" sz="3200" b="1" dirty="0">
                <a:solidFill>
                  <a:srgbClr val="FF0000"/>
                </a:solidFill>
                <a:latin typeface="Times New Roman" panose="02020603050405020304" pitchFamily="18" charset="0"/>
                <a:cs typeface="Times New Roman" panose="02020603050405020304" pitchFamily="18" charset="0"/>
              </a:rPr>
              <a:t>TECHNICAL KNOWLEDGE </a:t>
            </a:r>
            <a:r>
              <a:rPr lang="en-GB" sz="3200" b="1" dirty="0" smtClean="0">
                <a:solidFill>
                  <a:srgbClr val="FF0000"/>
                </a:solidFill>
                <a:latin typeface="Times New Roman" panose="02020603050405020304" pitchFamily="18" charset="0"/>
                <a:cs typeface="Times New Roman" panose="02020603050405020304" pitchFamily="18" charset="0"/>
              </a:rPr>
              <a:t>GAINED/SKILLS DEVELOPED </a:t>
            </a:r>
            <a:r>
              <a:rPr lang="en-GB" sz="3200" b="1" dirty="0">
                <a:solidFill>
                  <a:srgbClr val="FF0000"/>
                </a:solidFill>
                <a:latin typeface="Times New Roman" panose="02020603050405020304" pitchFamily="18" charset="0"/>
                <a:cs typeface="Times New Roman" panose="02020603050405020304" pitchFamily="18" charset="0"/>
              </a:rPr>
              <a:t>DURING THE INTERNSHIP</a:t>
            </a:r>
            <a:endParaRPr lang="en-IN" sz="3200" dirty="0"/>
          </a:p>
        </p:txBody>
      </p:sp>
      <p:sp>
        <p:nvSpPr>
          <p:cNvPr id="4" name="Date Placeholder 3"/>
          <p:cNvSpPr>
            <a:spLocks noGrp="1"/>
          </p:cNvSpPr>
          <p:nvPr>
            <p:ph type="dt" sz="half" idx="10"/>
          </p:nvPr>
        </p:nvSpPr>
        <p:spPr/>
        <p:txBody>
          <a:bodyPr/>
          <a:lstStyle/>
          <a:p>
            <a:fld id="{E0A69131-C744-4375-AC41-AA959E255FB1}"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7" name="Slide Number Placeholder 6"/>
          <p:cNvSpPr>
            <a:spLocks noGrp="1"/>
          </p:cNvSpPr>
          <p:nvPr>
            <p:ph type="sldNum" sz="quarter" idx="12"/>
          </p:nvPr>
        </p:nvSpPr>
        <p:spPr/>
        <p:txBody>
          <a:bodyPr/>
          <a:lstStyle/>
          <a:p>
            <a:fld id="{B473A766-B309-47EB-97F3-0F5A39AB9154}" type="slidenum">
              <a:rPr lang="en-IN" smtClean="0"/>
              <a:t>11</a:t>
            </a:fld>
            <a:endParaRPr lang="en-IN"/>
          </a:p>
        </p:txBody>
      </p:sp>
      <p:sp>
        <p:nvSpPr>
          <p:cNvPr id="8" name="Rectangle 1"/>
          <p:cNvSpPr>
            <a:spLocks noGrp="1" noChangeArrowheads="1"/>
          </p:cNvSpPr>
          <p:nvPr>
            <p:ph idx="1"/>
          </p:nvPr>
        </p:nvSpPr>
        <p:spPr bwMode="auto">
          <a:xfrm>
            <a:off x="465433" y="1166466"/>
            <a:ext cx="1194910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Understanding the Startup Ecosystem</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internship helped in developing knowledge about how startups operate,</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how funding rounds work, and how investments are distributed across industries and locations.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Problem-Solving and Analytical Thinking</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Working on real-world datasets helped improve my ability to analyze problems and find</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appropriate solutions. </a:t>
            </a:r>
          </a:p>
          <a:p>
            <a:pPr algn="just" eaLnBrk="0" fontAlgn="base" hangingPunct="0">
              <a:lnSpc>
                <a:spcPct val="150000"/>
              </a:lnSpc>
              <a:spcBef>
                <a:spcPct val="0"/>
              </a:spcBef>
              <a:spcAft>
                <a:spcPct val="0"/>
              </a:spcAft>
            </a:pPr>
            <a:r>
              <a:rPr lang="en-GB" sz="2400" b="1" dirty="0">
                <a:latin typeface="Times New Roman" panose="02020603050405020304" pitchFamily="18" charset="0"/>
                <a:cs typeface="Times New Roman" panose="02020603050405020304" pitchFamily="18" charset="0"/>
              </a:rPr>
              <a:t>Documentation and Reporting </a:t>
            </a:r>
            <a:r>
              <a:rPr lang="en-GB" sz="2400" b="1" dirty="0" smtClean="0">
                <a:latin typeface="Times New Roman" panose="02020603050405020304" pitchFamily="18" charset="0"/>
                <a:cs typeface="Times New Roman" panose="02020603050405020304" pitchFamily="18" charset="0"/>
              </a:rPr>
              <a:t>Skills</a:t>
            </a:r>
            <a:endParaRPr lang="en-GB" sz="2400" dirty="0" smtClean="0">
              <a:latin typeface="Times New Roman" panose="02020603050405020304" pitchFamily="18" charset="0"/>
              <a:cs typeface="Times New Roman" panose="02020603050405020304" pitchFamily="18" charset="0"/>
            </a:endParaRPr>
          </a:p>
          <a:p>
            <a:pPr marL="0" indent="0" algn="just" eaLnBrk="0" fontAlgn="base" hangingPunct="0">
              <a:lnSpc>
                <a:spcPct val="150000"/>
              </a:lnSpc>
              <a:spcBef>
                <a:spcPct val="0"/>
              </a:spcBef>
              <a:spcAft>
                <a:spcPct val="0"/>
              </a:spcAft>
              <a:buNone/>
            </a:pPr>
            <a:r>
              <a:rPr lang="en-GB" sz="2400" dirty="0" smtClean="0">
                <a:latin typeface="Times New Roman" panose="02020603050405020304" pitchFamily="18" charset="0"/>
                <a:cs typeface="Times New Roman" panose="02020603050405020304" pitchFamily="18" charset="0"/>
              </a:rPr>
              <a:t>I </a:t>
            </a:r>
            <a:r>
              <a:rPr lang="en-GB" sz="2400" dirty="0">
                <a:latin typeface="Times New Roman" panose="02020603050405020304" pitchFamily="18" charset="0"/>
                <a:cs typeface="Times New Roman" panose="02020603050405020304" pitchFamily="18" charset="0"/>
              </a:rPr>
              <a:t>also developed the ability to document my work clearly and prepare reports </a:t>
            </a:r>
            <a:r>
              <a:rPr lang="en-GB" sz="2400" dirty="0" smtClean="0">
                <a:latin typeface="Times New Roman" panose="02020603050405020304" pitchFamily="18" charset="0"/>
                <a:cs typeface="Times New Roman" panose="02020603050405020304" pitchFamily="18" charset="0"/>
              </a:rPr>
              <a:t>explaining</a:t>
            </a:r>
          </a:p>
          <a:p>
            <a:pPr marL="0" lvl="0" indent="0" algn="just" eaLnBrk="0" fontAlgn="base" hangingPunct="0">
              <a:lnSpc>
                <a:spcPct val="150000"/>
              </a:lnSpc>
              <a:spcBef>
                <a:spcPct val="0"/>
              </a:spcBef>
              <a:spcAft>
                <a:spcPct val="0"/>
              </a:spcAft>
              <a:buNone/>
            </a:pPr>
            <a:r>
              <a:rPr lang="en-GB" sz="2400" dirty="0" smtClean="0">
                <a:latin typeface="Times New Roman" panose="02020603050405020304" pitchFamily="18" charset="0"/>
                <a:cs typeface="Times New Roman" panose="02020603050405020304" pitchFamily="18" charset="0"/>
              </a:rPr>
              <a:t>the </a:t>
            </a:r>
            <a:r>
              <a:rPr lang="en-GB" sz="2400" dirty="0">
                <a:latin typeface="Times New Roman" panose="02020603050405020304" pitchFamily="18" charset="0"/>
                <a:cs typeface="Times New Roman" panose="02020603050405020304" pitchFamily="18" charset="0"/>
              </a:rPr>
              <a:t>analysis process and results. </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31860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 y="124995"/>
            <a:ext cx="10515600" cy="894715"/>
          </a:xfrm>
        </p:spPr>
        <p:txBody>
          <a:bodyPr>
            <a:normAutofit/>
          </a:bodyPr>
          <a:lstStyle/>
          <a:p>
            <a:r>
              <a:rPr lang="en-GB" sz="3200" b="1" dirty="0" smtClean="0">
                <a:solidFill>
                  <a:srgbClr val="FF0000"/>
                </a:solidFill>
                <a:latin typeface="Times New Roman" panose="02020603050405020304" pitchFamily="18" charset="0"/>
                <a:cs typeface="Times New Roman" panose="02020603050405020304" pitchFamily="18" charset="0"/>
              </a:rPr>
              <a:t>TOOLS,TECHNOLOGIES OR PLATFORM USED</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CC0948B-4231-4CA5-B386-2E3079481038}"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Slide Number Placeholder 5"/>
          <p:cNvSpPr>
            <a:spLocks noGrp="1"/>
          </p:cNvSpPr>
          <p:nvPr>
            <p:ph type="sldNum" sz="quarter" idx="12"/>
          </p:nvPr>
        </p:nvSpPr>
        <p:spPr/>
        <p:txBody>
          <a:bodyPr/>
          <a:lstStyle/>
          <a:p>
            <a:fld id="{B473A766-B309-47EB-97F3-0F5A39AB9154}" type="slidenum">
              <a:rPr lang="en-IN" smtClean="0"/>
              <a:t>12</a:t>
            </a:fld>
            <a:endParaRPr lang="en-IN"/>
          </a:p>
        </p:txBody>
      </p:sp>
      <p:sp>
        <p:nvSpPr>
          <p:cNvPr id="7" name="Rectangle 1"/>
          <p:cNvSpPr>
            <a:spLocks noGrp="1" noChangeArrowheads="1"/>
          </p:cNvSpPr>
          <p:nvPr>
            <p:ph idx="1"/>
          </p:nvPr>
        </p:nvSpPr>
        <p:spPr bwMode="auto">
          <a:xfrm>
            <a:off x="411480" y="925195"/>
            <a:ext cx="1183772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Python Programming Language</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Python was the primary programming language used during the internship.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was used for data processing, analysis, and automation of analytical tasks.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Pandas Library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helped in reading datasets, organizing data into tables, filtering information, and performing </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operations such as grouping, sorting, and summarizing large datasets efficiently.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Library</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provided functions to perform mathematical calculations, statistical analysis, and operations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on arrays</a:t>
            </a:r>
            <a:r>
              <a:rPr kumimoji="0" lang="en-US" altLang="en-US" sz="24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and numerical datasets.</a:t>
            </a:r>
          </a:p>
        </p:txBody>
      </p:sp>
    </p:spTree>
    <p:extLst>
      <p:ext uri="{BB962C8B-B14F-4D97-AF65-F5344CB8AC3E}">
        <p14:creationId xmlns:p14="http://schemas.microsoft.com/office/powerpoint/2010/main" val="39619908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760" y="-282893"/>
            <a:ext cx="10515600" cy="1325563"/>
          </a:xfrm>
        </p:spPr>
        <p:txBody>
          <a:bodyPr>
            <a:normAutofit/>
          </a:bodyPr>
          <a:lstStyle/>
          <a:p>
            <a:pPr algn="just">
              <a:lnSpc>
                <a:spcPct val="150000"/>
              </a:lnSpc>
            </a:pPr>
            <a:r>
              <a:rPr lang="en-GB" sz="3200" b="1" dirty="0">
                <a:solidFill>
                  <a:srgbClr val="FF0000"/>
                </a:solidFill>
                <a:latin typeface="Times New Roman" panose="02020603050405020304" pitchFamily="18" charset="0"/>
                <a:cs typeface="Times New Roman" panose="02020603050405020304" pitchFamily="18" charset="0"/>
              </a:rPr>
              <a:t>TOOLS,TECHNOLOGIES OR PLATFORM USED</a:t>
            </a:r>
            <a:endParaRPr lang="en-IN" sz="3200" dirty="0"/>
          </a:p>
        </p:txBody>
      </p:sp>
      <p:sp>
        <p:nvSpPr>
          <p:cNvPr id="4" name="Date Placeholder 3"/>
          <p:cNvSpPr>
            <a:spLocks noGrp="1"/>
          </p:cNvSpPr>
          <p:nvPr>
            <p:ph type="dt" sz="half" idx="10"/>
          </p:nvPr>
        </p:nvSpPr>
        <p:spPr/>
        <p:txBody>
          <a:bodyPr/>
          <a:lstStyle/>
          <a:p>
            <a:fld id="{5CC0948B-4231-4CA5-B386-2E3079481038}"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Slide Number Placeholder 5"/>
          <p:cNvSpPr>
            <a:spLocks noGrp="1"/>
          </p:cNvSpPr>
          <p:nvPr>
            <p:ph type="sldNum" sz="quarter" idx="12"/>
          </p:nvPr>
        </p:nvSpPr>
        <p:spPr/>
        <p:txBody>
          <a:bodyPr/>
          <a:lstStyle/>
          <a:p>
            <a:fld id="{B473A766-B309-47EB-97F3-0F5A39AB9154}" type="slidenum">
              <a:rPr lang="en-IN" smtClean="0"/>
              <a:t>13</a:t>
            </a:fld>
            <a:endParaRPr lang="en-IN"/>
          </a:p>
        </p:txBody>
      </p:sp>
      <p:sp>
        <p:nvSpPr>
          <p:cNvPr id="7" name="Rectangle 1"/>
          <p:cNvSpPr>
            <a:spLocks noGrp="1" noChangeArrowheads="1"/>
          </p:cNvSpPr>
          <p:nvPr>
            <p:ph idx="1"/>
          </p:nvPr>
        </p:nvSpPr>
        <p:spPr bwMode="auto">
          <a:xfrm>
            <a:off x="336810" y="752878"/>
            <a:ext cx="1101699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Matplotlib</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was used to generate visual representations such as bar charts, line graphs, and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pie charts to present data insights clearly.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GB" sz="2400" b="1" dirty="0" err="1" smtClean="0">
                <a:latin typeface="Times New Roman" panose="02020603050405020304" pitchFamily="18" charset="0"/>
                <a:cs typeface="Times New Roman" panose="02020603050405020304" pitchFamily="18" charset="0"/>
              </a:rPr>
              <a:t>Seaborn</a:t>
            </a:r>
            <a:endParaRPr lang="en-GB" sz="2400" dirty="0" smtClean="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GB" sz="2400" dirty="0" smtClean="0">
                <a:latin typeface="Times New Roman" panose="02020603050405020304" pitchFamily="18" charset="0"/>
                <a:cs typeface="Times New Roman" panose="02020603050405020304" pitchFamily="18" charset="0"/>
              </a:rPr>
              <a:t>It </a:t>
            </a:r>
            <a:r>
              <a:rPr lang="en-GB" sz="2400" dirty="0">
                <a:latin typeface="Times New Roman" panose="02020603050405020304" pitchFamily="18" charset="0"/>
                <a:cs typeface="Times New Roman" panose="02020603050405020304" pitchFamily="18" charset="0"/>
              </a:rPr>
              <a:t>helped in creating more advanced and visually appealing statistical </a:t>
            </a:r>
            <a:r>
              <a:rPr lang="en-GB" sz="2400" dirty="0" smtClean="0">
                <a:latin typeface="Times New Roman" panose="02020603050405020304" pitchFamily="18" charset="0"/>
                <a:cs typeface="Times New Roman" panose="02020603050405020304" pitchFamily="18" charset="0"/>
              </a:rPr>
              <a:t>graphs</a:t>
            </a:r>
          </a:p>
          <a:p>
            <a:pPr marL="0" lvl="0" indent="0" eaLnBrk="0" fontAlgn="base" hangingPunct="0">
              <a:lnSpc>
                <a:spcPct val="100000"/>
              </a:lnSpc>
              <a:spcBef>
                <a:spcPct val="0"/>
              </a:spcBef>
              <a:spcAft>
                <a:spcPct val="0"/>
              </a:spcAft>
              <a:buNone/>
            </a:pPr>
            <a:r>
              <a:rPr lang="en-GB" sz="2400" dirty="0" smtClean="0">
                <a:latin typeface="Times New Roman" panose="02020603050405020304" pitchFamily="18" charset="0"/>
                <a:cs typeface="Times New Roman" panose="02020603050405020304" pitchFamily="18" charset="0"/>
              </a:rPr>
              <a:t>that </a:t>
            </a:r>
            <a:r>
              <a:rPr lang="en-GB" sz="2400" dirty="0">
                <a:latin typeface="Times New Roman" panose="02020603050405020304" pitchFamily="18" charset="0"/>
                <a:cs typeface="Times New Roman" panose="02020603050405020304" pitchFamily="18" charset="0"/>
              </a:rPr>
              <a:t>made data analysis easier to understand</a:t>
            </a:r>
            <a:r>
              <a:rPr lang="en-GB" sz="2400" dirty="0" smtClean="0">
                <a:latin typeface="Times New Roman" panose="02020603050405020304" pitchFamily="18" charset="0"/>
                <a:cs typeface="Times New Roman" panose="02020603050405020304" pitchFamily="18" charset="0"/>
              </a:rPr>
              <a:t>.</a:t>
            </a:r>
          </a:p>
          <a:p>
            <a:pPr marL="0" lvl="0" indent="0" eaLnBrk="0" fontAlgn="base" hangingPunct="0">
              <a:lnSpc>
                <a:spcPct val="100000"/>
              </a:lnSpc>
              <a:spcBef>
                <a:spcPct val="0"/>
              </a:spcBef>
              <a:spcAft>
                <a:spcPct val="0"/>
              </a:spcAft>
              <a:buNone/>
            </a:pPr>
            <a:endPar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GB" sz="2400" b="1" dirty="0" err="1">
                <a:latin typeface="Times New Roman" panose="02020603050405020304" pitchFamily="18" charset="0"/>
                <a:cs typeface="Times New Roman" panose="02020603050405020304" pitchFamily="18" charset="0"/>
              </a:rPr>
              <a:t>Jupyter</a:t>
            </a:r>
            <a:r>
              <a:rPr lang="en-GB" sz="2400" b="1" dirty="0">
                <a:latin typeface="Times New Roman" panose="02020603050405020304" pitchFamily="18" charset="0"/>
                <a:cs typeface="Times New Roman" panose="02020603050405020304" pitchFamily="18" charset="0"/>
              </a:rPr>
              <a:t> </a:t>
            </a:r>
            <a:r>
              <a:rPr lang="en-GB" sz="2400" b="1" dirty="0" smtClean="0">
                <a:latin typeface="Times New Roman" panose="02020603050405020304" pitchFamily="18" charset="0"/>
                <a:cs typeface="Times New Roman" panose="02020603050405020304" pitchFamily="18" charset="0"/>
              </a:rPr>
              <a:t>Notebook</a:t>
            </a:r>
            <a:endParaRPr lang="en-GB" sz="2400" dirty="0" smtClean="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GB" sz="2400" dirty="0" err="1" smtClean="0">
                <a:latin typeface="Times New Roman" panose="02020603050405020304" pitchFamily="18" charset="0"/>
                <a:cs typeface="Times New Roman" panose="02020603050405020304" pitchFamily="18" charset="0"/>
              </a:rPr>
              <a:t>Jupyter</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Notebook was used as the development environment to write and </a:t>
            </a:r>
            <a:endParaRPr lang="en-GB" sz="2400" dirty="0" smtClean="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GB" sz="2400" dirty="0" smtClean="0">
                <a:latin typeface="Times New Roman" panose="02020603050405020304" pitchFamily="18" charset="0"/>
                <a:cs typeface="Times New Roman" panose="02020603050405020304" pitchFamily="18" charset="0"/>
              </a:rPr>
              <a:t>execute </a:t>
            </a:r>
            <a:r>
              <a:rPr lang="en-GB" sz="2400" dirty="0">
                <a:latin typeface="Times New Roman" panose="02020603050405020304" pitchFamily="18" charset="0"/>
                <a:cs typeface="Times New Roman" panose="02020603050405020304" pitchFamily="18" charset="0"/>
              </a:rPr>
              <a:t>Python </a:t>
            </a:r>
            <a:r>
              <a:rPr lang="en-GB" sz="2400" dirty="0" err="1" smtClean="0">
                <a:latin typeface="Times New Roman" panose="02020603050405020304" pitchFamily="18" charset="0"/>
                <a:cs typeface="Times New Roman" panose="02020603050405020304" pitchFamily="18" charset="0"/>
              </a:rPr>
              <a:t>code.It</a:t>
            </a:r>
            <a:r>
              <a:rPr lang="en-GB" sz="2400" dirty="0" smtClean="0">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allowed running code step by step, visualizing outputs instantly, </a:t>
            </a:r>
            <a:endParaRPr lang="en-GB" sz="2400" dirty="0" smtClean="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GB" sz="2400" dirty="0" smtClean="0">
                <a:latin typeface="Times New Roman" panose="02020603050405020304" pitchFamily="18" charset="0"/>
                <a:cs typeface="Times New Roman" panose="02020603050405020304" pitchFamily="18" charset="0"/>
              </a:rPr>
              <a:t>and </a:t>
            </a:r>
            <a:r>
              <a:rPr lang="en-GB" sz="2400" dirty="0">
                <a:latin typeface="Times New Roman" panose="02020603050405020304" pitchFamily="18" charset="0"/>
                <a:cs typeface="Times New Roman" panose="02020603050405020304" pitchFamily="18" charset="0"/>
              </a:rPr>
              <a:t>documenting the analysis process in a structured format.</a:t>
            </a: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345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8777"/>
            <a:ext cx="10998200" cy="671195"/>
          </a:xfrm>
        </p:spPr>
        <p:txBody>
          <a:bodyPr>
            <a:normAutofit/>
          </a:bodyPr>
          <a:lstStyle/>
          <a:p>
            <a:r>
              <a:rPr lang="en-GB" sz="3200" b="1" dirty="0" smtClean="0">
                <a:solidFill>
                  <a:srgbClr val="FF0000"/>
                </a:solidFill>
                <a:latin typeface="Times New Roman" panose="02020603050405020304" pitchFamily="18" charset="0"/>
                <a:cs typeface="Times New Roman" panose="02020603050405020304" pitchFamily="18" charset="0"/>
              </a:rPr>
              <a:t>OUTCOMES AND LEARNING EXPERIENCE</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2900" y="1168400"/>
            <a:ext cx="11506200" cy="4351338"/>
          </a:xfrm>
        </p:spPr>
        <p:txBody>
          <a:bodyPr>
            <a:noAutofit/>
          </a:bodyPr>
          <a:lstStyle/>
          <a:p>
            <a:pPr algn="just">
              <a:lnSpc>
                <a:spcPct val="150000"/>
              </a:lnSpc>
            </a:pPr>
            <a:r>
              <a:rPr lang="en-GB" sz="2400" dirty="0">
                <a:latin typeface="Times New Roman" panose="02020603050405020304" pitchFamily="18" charset="0"/>
                <a:cs typeface="Times New Roman" panose="02020603050405020304" pitchFamily="18" charset="0"/>
              </a:rPr>
              <a:t>The internship at </a:t>
            </a:r>
            <a:r>
              <a:rPr lang="en-GB" sz="2400" dirty="0" err="1">
                <a:latin typeface="Times New Roman" panose="02020603050405020304" pitchFamily="18" charset="0"/>
                <a:cs typeface="Times New Roman" panose="02020603050405020304" pitchFamily="18" charset="0"/>
              </a:rPr>
              <a:t>KaroStartup</a:t>
            </a:r>
            <a:r>
              <a:rPr lang="en-GB" sz="2400" dirty="0">
                <a:latin typeface="Times New Roman" panose="02020603050405020304" pitchFamily="18" charset="0"/>
                <a:cs typeface="Times New Roman" panose="02020603050405020304" pitchFamily="18" charset="0"/>
              </a:rPr>
              <a:t> provided valuable practical experience and helped in developing both technical and analytical skills. </a:t>
            </a:r>
            <a:endParaRPr lang="en-GB" sz="2400" dirty="0" smtClean="0">
              <a:latin typeface="Times New Roman" panose="02020603050405020304" pitchFamily="18" charset="0"/>
              <a:cs typeface="Times New Roman" panose="02020603050405020304" pitchFamily="18" charset="0"/>
            </a:endParaRPr>
          </a:p>
          <a:p>
            <a:pPr algn="just">
              <a:lnSpc>
                <a:spcPct val="150000"/>
              </a:lnSpc>
            </a:pPr>
            <a:r>
              <a:rPr lang="en-GB" sz="2400" dirty="0" smtClean="0">
                <a:latin typeface="Times New Roman" panose="02020603050405020304" pitchFamily="18" charset="0"/>
                <a:cs typeface="Times New Roman" panose="02020603050405020304" pitchFamily="18" charset="0"/>
              </a:rPr>
              <a:t>One </a:t>
            </a:r>
            <a:r>
              <a:rPr lang="en-GB" sz="2400" dirty="0">
                <a:latin typeface="Times New Roman" panose="02020603050405020304" pitchFamily="18" charset="0"/>
                <a:cs typeface="Times New Roman" panose="02020603050405020304" pitchFamily="18" charset="0"/>
              </a:rPr>
              <a:t>of the major outcomes of the internship was gaining hands-on experience in data analysis and programming using Python. </a:t>
            </a:r>
            <a:endParaRPr lang="en-GB" sz="2400" dirty="0" smtClean="0">
              <a:latin typeface="Times New Roman" panose="02020603050405020304" pitchFamily="18" charset="0"/>
              <a:cs typeface="Times New Roman" panose="02020603050405020304" pitchFamily="18" charset="0"/>
            </a:endParaRPr>
          </a:p>
          <a:p>
            <a:pPr algn="just">
              <a:lnSpc>
                <a:spcPct val="150000"/>
              </a:lnSpc>
            </a:pPr>
            <a:r>
              <a:rPr lang="en-GB" sz="2400" dirty="0" smtClean="0">
                <a:latin typeface="Times New Roman" panose="02020603050405020304" pitchFamily="18" charset="0"/>
                <a:cs typeface="Times New Roman" panose="02020603050405020304" pitchFamily="18" charset="0"/>
              </a:rPr>
              <a:t>Working </a:t>
            </a:r>
            <a:r>
              <a:rPr lang="en-GB" sz="2400" dirty="0">
                <a:latin typeface="Times New Roman" panose="02020603050405020304" pitchFamily="18" charset="0"/>
                <a:cs typeface="Times New Roman" panose="02020603050405020304" pitchFamily="18" charset="0"/>
              </a:rPr>
              <a:t>with real-world datasets allowed me to understand how data can be processed, </a:t>
            </a:r>
            <a:r>
              <a:rPr lang="en-GB" sz="2400" dirty="0" err="1">
                <a:latin typeface="Times New Roman" panose="02020603050405020304" pitchFamily="18" charset="0"/>
                <a:cs typeface="Times New Roman" panose="02020603050405020304" pitchFamily="18" charset="0"/>
              </a:rPr>
              <a:t>analyzed</a:t>
            </a:r>
            <a:r>
              <a:rPr lang="en-GB" sz="2400" dirty="0">
                <a:latin typeface="Times New Roman" panose="02020603050405020304" pitchFamily="18" charset="0"/>
                <a:cs typeface="Times New Roman" panose="02020603050405020304" pitchFamily="18" charset="0"/>
              </a:rPr>
              <a:t>, and interpreted to identify useful insights. </a:t>
            </a:r>
            <a:endParaRPr lang="en-GB" sz="2400" dirty="0" smtClean="0">
              <a:latin typeface="Times New Roman" panose="02020603050405020304" pitchFamily="18" charset="0"/>
              <a:cs typeface="Times New Roman" panose="02020603050405020304" pitchFamily="18" charset="0"/>
            </a:endParaRPr>
          </a:p>
          <a:p>
            <a:pPr algn="just">
              <a:lnSpc>
                <a:spcPct val="150000"/>
              </a:lnSpc>
            </a:pPr>
            <a:r>
              <a:rPr lang="en-GB" sz="2400" dirty="0">
                <a:latin typeface="Times New Roman" panose="02020603050405020304" pitchFamily="18" charset="0"/>
                <a:cs typeface="Times New Roman" panose="02020603050405020304" pitchFamily="18" charset="0"/>
              </a:rPr>
              <a:t>T</a:t>
            </a:r>
            <a:r>
              <a:rPr lang="en-GB" sz="2400" dirty="0" smtClean="0">
                <a:latin typeface="Times New Roman" panose="02020603050405020304" pitchFamily="18" charset="0"/>
                <a:cs typeface="Times New Roman" panose="02020603050405020304" pitchFamily="18" charset="0"/>
              </a:rPr>
              <a:t>his </a:t>
            </a:r>
            <a:r>
              <a:rPr lang="en-GB" sz="2400" dirty="0">
                <a:latin typeface="Times New Roman" panose="02020603050405020304" pitchFamily="18" charset="0"/>
                <a:cs typeface="Times New Roman" panose="02020603050405020304" pitchFamily="18" charset="0"/>
              </a:rPr>
              <a:t>experience helped strengthen my knowledge of data analytics and improved my confidence in handling complex datasets</a:t>
            </a:r>
            <a:r>
              <a:rPr lang="en-GB" sz="2400" dirty="0" smtClean="0">
                <a:latin typeface="Times New Roman" panose="02020603050405020304" pitchFamily="18" charset="0"/>
                <a:cs typeface="Times New Roman" panose="02020603050405020304" pitchFamily="18" charset="0"/>
              </a:rPr>
              <a:t>.</a:t>
            </a:r>
          </a:p>
        </p:txBody>
      </p:sp>
      <p:sp>
        <p:nvSpPr>
          <p:cNvPr id="4" name="Date Placeholder 3"/>
          <p:cNvSpPr>
            <a:spLocks noGrp="1"/>
          </p:cNvSpPr>
          <p:nvPr>
            <p:ph type="dt" sz="half" idx="10"/>
          </p:nvPr>
        </p:nvSpPr>
        <p:spPr/>
        <p:txBody>
          <a:bodyPr/>
          <a:lstStyle/>
          <a:p>
            <a:fld id="{5CC0948B-4231-4CA5-B386-2E3079481038}" type="datetime3">
              <a:rPr lang="en-IN" smtClean="0"/>
              <a:t>8 March 2026</a:t>
            </a:fld>
            <a:endParaRPr lang="en-IN"/>
          </a:p>
        </p:txBody>
      </p:sp>
      <p:sp>
        <p:nvSpPr>
          <p:cNvPr id="5" name="Footer Placeholder 4"/>
          <p:cNvSpPr>
            <a:spLocks noGrp="1"/>
          </p:cNvSpPr>
          <p:nvPr>
            <p:ph type="ftr" sz="quarter" idx="11"/>
          </p:nvPr>
        </p:nvSpPr>
        <p:spPr/>
        <p:txBody>
          <a:bodyPr/>
          <a:lstStyle/>
          <a:p>
            <a:r>
              <a:rPr lang="en-IN" dirty="0" err="1" smtClean="0"/>
              <a:t>Dept</a:t>
            </a:r>
            <a:r>
              <a:rPr lang="en-IN" dirty="0" smtClean="0"/>
              <a:t> of </a:t>
            </a:r>
            <a:r>
              <a:rPr lang="en-IN" dirty="0" err="1" smtClean="0"/>
              <a:t>CS&amp;BS,MCE,Hassan</a:t>
            </a:r>
            <a:endParaRPr lang="en-IN" dirty="0"/>
          </a:p>
        </p:txBody>
      </p:sp>
      <p:sp>
        <p:nvSpPr>
          <p:cNvPr id="6" name="Slide Number Placeholder 5"/>
          <p:cNvSpPr>
            <a:spLocks noGrp="1"/>
          </p:cNvSpPr>
          <p:nvPr>
            <p:ph type="sldNum" sz="quarter" idx="12"/>
          </p:nvPr>
        </p:nvSpPr>
        <p:spPr/>
        <p:txBody>
          <a:bodyPr/>
          <a:lstStyle/>
          <a:p>
            <a:fld id="{B473A766-B309-47EB-97F3-0F5A39AB9154}" type="slidenum">
              <a:rPr lang="en-IN" smtClean="0"/>
              <a:t>14</a:t>
            </a:fld>
            <a:endParaRPr lang="en-IN"/>
          </a:p>
        </p:txBody>
      </p:sp>
    </p:spTree>
    <p:extLst>
      <p:ext uri="{BB962C8B-B14F-4D97-AF65-F5344CB8AC3E}">
        <p14:creationId xmlns:p14="http://schemas.microsoft.com/office/powerpoint/2010/main" val="14199048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360" y="0"/>
            <a:ext cx="10515600" cy="1325563"/>
          </a:xfrm>
        </p:spPr>
        <p:txBody>
          <a:bodyPr>
            <a:normAutofit/>
          </a:bodyPr>
          <a:lstStyle/>
          <a:p>
            <a:r>
              <a:rPr lang="en-GB" sz="3200" b="1" dirty="0" smtClean="0">
                <a:solidFill>
                  <a:srgbClr val="FF0000"/>
                </a:solidFill>
                <a:latin typeface="Times New Roman" panose="02020603050405020304" pitchFamily="18" charset="0"/>
                <a:cs typeface="Times New Roman" panose="02020603050405020304" pitchFamily="18" charset="0"/>
              </a:rPr>
              <a:t>CONCLUSION</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4340" y="1083945"/>
            <a:ext cx="11323320" cy="4351338"/>
          </a:xfrm>
        </p:spPr>
        <p:txBody>
          <a:bodyPr>
            <a:noAutofit/>
          </a:bodyPr>
          <a:lstStyle/>
          <a:p>
            <a:pPr marL="0" indent="0" algn="just">
              <a:lnSpc>
                <a:spcPct val="150000"/>
              </a:lnSpc>
              <a:buNone/>
            </a:pPr>
            <a:r>
              <a:rPr lang="en-GB" sz="2400" dirty="0">
                <a:latin typeface="Times New Roman" panose="02020603050405020304" pitchFamily="18" charset="0"/>
                <a:cs typeface="Times New Roman" panose="02020603050405020304" pitchFamily="18" charset="0"/>
              </a:rPr>
              <a:t>The internship at </a:t>
            </a:r>
            <a:r>
              <a:rPr lang="en-GB" sz="2400" dirty="0" err="1">
                <a:latin typeface="Times New Roman" panose="02020603050405020304" pitchFamily="18" charset="0"/>
                <a:cs typeface="Times New Roman" panose="02020603050405020304" pitchFamily="18" charset="0"/>
              </a:rPr>
              <a:t>KaroStartup</a:t>
            </a:r>
            <a:r>
              <a:rPr lang="en-GB" sz="2400" dirty="0">
                <a:latin typeface="Times New Roman" panose="02020603050405020304" pitchFamily="18" charset="0"/>
                <a:cs typeface="Times New Roman" panose="02020603050405020304" pitchFamily="18" charset="0"/>
              </a:rPr>
              <a:t> was a valuable learning experience that provided practical exposure to real-world data analysis and the </a:t>
            </a:r>
            <a:r>
              <a:rPr lang="en-GB" sz="2400" dirty="0" err="1">
                <a:latin typeface="Times New Roman" panose="02020603050405020304" pitchFamily="18" charset="0"/>
                <a:cs typeface="Times New Roman" panose="02020603050405020304" pitchFamily="18" charset="0"/>
              </a:rPr>
              <a:t>startup</a:t>
            </a:r>
            <a:r>
              <a:rPr lang="en-GB" sz="2400" dirty="0">
                <a:latin typeface="Times New Roman" panose="02020603050405020304" pitchFamily="18" charset="0"/>
                <a:cs typeface="Times New Roman" panose="02020603050405020304" pitchFamily="18" charset="0"/>
              </a:rPr>
              <a:t> ecosystem. It helped bridge the gap between theoretical knowledge gained in academic studies and practical applications used in industry. Through the various tasks and projects assigned during the internship, I was able to apply programming and analytical skills to </a:t>
            </a:r>
            <a:r>
              <a:rPr lang="en-GB" sz="2400" dirty="0" err="1">
                <a:latin typeface="Times New Roman" panose="02020603050405020304" pitchFamily="18" charset="0"/>
                <a:cs typeface="Times New Roman" panose="02020603050405020304" pitchFamily="18" charset="0"/>
              </a:rPr>
              <a:t>analyze</a:t>
            </a:r>
            <a:r>
              <a:rPr lang="en-GB" sz="2400" dirty="0">
                <a:latin typeface="Times New Roman" panose="02020603050405020304" pitchFamily="18" charset="0"/>
                <a:cs typeface="Times New Roman" panose="02020603050405020304" pitchFamily="18" charset="0"/>
              </a:rPr>
              <a:t> datasets and generate meaningful insights</a:t>
            </a:r>
            <a:r>
              <a:rPr lang="en-GB" sz="2400" dirty="0" smtClean="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It provided an opportunity to learn new technologies, gain practical experience, and understand real-world applications of data analysis. The knowledge and skills gained during this internship will serve as a strong foundation for my future career in the fields of data analytics, data science, and technology.</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CC0948B-4231-4CA5-B386-2E3079481038}" type="datetime3">
              <a:rPr lang="en-IN" smtClean="0"/>
              <a:t>8 March 2026</a:t>
            </a:fld>
            <a:endParaRPr lang="en-IN"/>
          </a:p>
        </p:txBody>
      </p:sp>
      <p:sp>
        <p:nvSpPr>
          <p:cNvPr id="5" name="Footer Placeholder 4"/>
          <p:cNvSpPr>
            <a:spLocks noGrp="1"/>
          </p:cNvSpPr>
          <p:nvPr>
            <p:ph type="ftr" sz="quarter" idx="11"/>
          </p:nvPr>
        </p:nvSpPr>
        <p:spPr/>
        <p:txBody>
          <a:bodyPr/>
          <a:lstStyle/>
          <a:p>
            <a:r>
              <a:rPr lang="en-IN" smtClean="0"/>
              <a:t>Dept of CS&amp;BS,MCE,Hassan</a:t>
            </a:r>
            <a:endParaRPr lang="en-IN"/>
          </a:p>
        </p:txBody>
      </p:sp>
      <p:sp>
        <p:nvSpPr>
          <p:cNvPr id="6" name="Slide Number Placeholder 5"/>
          <p:cNvSpPr>
            <a:spLocks noGrp="1"/>
          </p:cNvSpPr>
          <p:nvPr>
            <p:ph type="sldNum" sz="quarter" idx="12"/>
          </p:nvPr>
        </p:nvSpPr>
        <p:spPr/>
        <p:txBody>
          <a:bodyPr/>
          <a:lstStyle/>
          <a:p>
            <a:fld id="{B473A766-B309-47EB-97F3-0F5A39AB9154}" type="slidenum">
              <a:rPr lang="en-IN" smtClean="0"/>
              <a:t>15</a:t>
            </a:fld>
            <a:endParaRPr lang="en-IN"/>
          </a:p>
        </p:txBody>
      </p:sp>
    </p:spTree>
    <p:extLst>
      <p:ext uri="{BB962C8B-B14F-4D97-AF65-F5344CB8AC3E}">
        <p14:creationId xmlns:p14="http://schemas.microsoft.com/office/powerpoint/2010/main" val="34567503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485BC-C6A1-1B61-DBF6-AE75EC362981}"/>
              </a:ext>
            </a:extLst>
          </p:cNvPr>
          <p:cNvSpPr txBox="1"/>
          <p:nvPr/>
        </p:nvSpPr>
        <p:spPr>
          <a:xfrm>
            <a:off x="2741645" y="2761861"/>
            <a:ext cx="6708710" cy="1107996"/>
          </a:xfrm>
          <a:prstGeom prst="rect">
            <a:avLst/>
          </a:prstGeom>
          <a:noFill/>
        </p:spPr>
        <p:txBody>
          <a:bodyPr wrap="square" rtlCol="0">
            <a:spAutoFit/>
          </a:bodyPr>
          <a:lstStyle/>
          <a:p>
            <a:pPr algn="ctr"/>
            <a:r>
              <a:rPr lang="en-IN" sz="6600" dirty="0">
                <a:solidFill>
                  <a:srgbClr val="FF0000"/>
                </a:solidFill>
                <a:latin typeface="Times New Roman" panose="02020603050405020304" pitchFamily="18" charset="0"/>
                <a:cs typeface="Times New Roman" panose="02020603050405020304" pitchFamily="18" charset="0"/>
              </a:rPr>
              <a:t>THANK YOU</a:t>
            </a:r>
          </a:p>
        </p:txBody>
      </p:sp>
      <p:sp>
        <p:nvSpPr>
          <p:cNvPr id="6" name="Date Placeholder 5"/>
          <p:cNvSpPr>
            <a:spLocks noGrp="1"/>
          </p:cNvSpPr>
          <p:nvPr>
            <p:ph type="dt" sz="half" idx="10"/>
          </p:nvPr>
        </p:nvSpPr>
        <p:spPr/>
        <p:txBody>
          <a:bodyPr/>
          <a:lstStyle/>
          <a:p>
            <a:fld id="{4FBC225D-FBD5-40A2-9A79-01D02C49D782}" type="datetime3">
              <a:rPr lang="en-IN" smtClean="0"/>
              <a:t>8 March 2026</a:t>
            </a:fld>
            <a:endParaRPr lang="en-IN"/>
          </a:p>
        </p:txBody>
      </p:sp>
      <p:sp>
        <p:nvSpPr>
          <p:cNvPr id="7" name="Footer Placeholder 6"/>
          <p:cNvSpPr>
            <a:spLocks noGrp="1"/>
          </p:cNvSpPr>
          <p:nvPr>
            <p:ph type="ftr" sz="quarter" idx="11"/>
          </p:nvPr>
        </p:nvSpPr>
        <p:spPr/>
        <p:txBody>
          <a:bodyPr/>
          <a:lstStyle/>
          <a:p>
            <a:r>
              <a:rPr lang="en-IN" smtClean="0"/>
              <a:t>Dept of CS&amp;BS,MCE,Hassan</a:t>
            </a:r>
            <a:endParaRPr lang="en-IN"/>
          </a:p>
        </p:txBody>
      </p:sp>
      <p:sp>
        <p:nvSpPr>
          <p:cNvPr id="4" name="Slide Number Placeholder 3"/>
          <p:cNvSpPr>
            <a:spLocks noGrp="1"/>
          </p:cNvSpPr>
          <p:nvPr>
            <p:ph type="sldNum" sz="quarter" idx="12"/>
          </p:nvPr>
        </p:nvSpPr>
        <p:spPr/>
        <p:txBody>
          <a:bodyPr/>
          <a:lstStyle/>
          <a:p>
            <a:fld id="{B473A766-B309-47EB-97F3-0F5A39AB9154}" type="slidenum">
              <a:rPr lang="en-IN" smtClean="0"/>
              <a:t>16</a:t>
            </a:fld>
            <a:endParaRPr lang="en-IN"/>
          </a:p>
        </p:txBody>
      </p:sp>
    </p:spTree>
    <p:extLst>
      <p:ext uri="{BB962C8B-B14F-4D97-AF65-F5344CB8AC3E}">
        <p14:creationId xmlns:p14="http://schemas.microsoft.com/office/powerpoint/2010/main" val="20911787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TotalTime>
  <Words>741</Words>
  <Application>Microsoft Office PowerPoint</Application>
  <PresentationFormat>Widescreen</PresentationFormat>
  <Paragraphs>160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(MS)</vt:lpstr>
      <vt:lpstr>Calibri Light</vt:lpstr>
      <vt:lpstr>Times New Roman</vt:lpstr>
      <vt:lpstr>Office Theme</vt:lpstr>
      <vt:lpstr>MALNAD COLLEGE OF ENGINEERING, HASSAN </vt:lpstr>
      <vt:lpstr>CONTENTS</vt:lpstr>
      <vt:lpstr>PowerPoint Presentation</vt:lpstr>
      <vt:lpstr>PowerPoint Presentation</vt:lpstr>
      <vt:lpstr>INTERNSHIP OBJECTIVES</vt:lpstr>
      <vt:lpstr>TASK ASSIGNED DURING THE INTERNSHIP</vt:lpstr>
      <vt:lpstr>TASK ASSIGNED DURING THE INTERNSHIP</vt:lpstr>
      <vt:lpstr>TASK ASSIGNED DURING THE INTERNSHIP</vt:lpstr>
      <vt:lpstr>TECHNICAL KNOWLEDGE GAINED/SKILLS DEVELOPED DURING THE INTERNSHIP</vt:lpstr>
      <vt:lpstr>TECHNICAL KNOWLEDGE GAINED/SKILLS DEVELOPED DURING THE INTERNSHIP</vt:lpstr>
      <vt:lpstr>TECHNICAL KNOWLEDGE GAINED/SKILLS DEVELOPED DURING THE INTERNSHIP</vt:lpstr>
      <vt:lpstr>TOOLS,TECHNOLOGIES OR PLATFORM USED</vt:lpstr>
      <vt:lpstr>TOOLS,TECHNOLOGIES OR PLATFORM USED</vt:lpstr>
      <vt:lpstr>OUTCOMES AND LEARNING EXPERIENCE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MALNAD COLLEGE OF ENGINEERING, HASSAN</dc:title>
  <dc:creator>Shambhavi 31</dc:creator>
  <cp:lastModifiedBy>User</cp:lastModifiedBy>
  <cp:revision>33</cp:revision>
  <dcterms:created xsi:type="dcterms:W3CDTF">2025-11-05T14:58:42Z</dcterms:created>
  <dcterms:modified xsi:type="dcterms:W3CDTF">2026-03-08T15:49:16Z</dcterms:modified>
</cp:coreProperties>
</file>